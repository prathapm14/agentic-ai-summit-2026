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5483dfe-d234-b724-9d83-e67560d33786}">
          <p14:sldIdLst>
            <p14:sldId id="256"/>
            <p14:sldId id="257"/>
            <p14:sldId id="258"/>
            <p14:sldId id="259"/>
            <p14:sldId id="260"/>
          </p14:sldIdLst>
        </p14:section>
        <p14:section name="Speakers" id="{af0ef9b3-b9da-3846-7895-3c0244cfdd1e}">
          <p14:sldIdLst>
            <p14:sldId id="261"/>
            <p14:sldId id="262"/>
            <p14:sldId id="263"/>
            <p14:sldId id="264"/>
            <p14:sldId id="265"/>
            <p14:sldId id="266"/>
            <p14:sldId id="267"/>
            <p14:sldId id="268"/>
            <p14:sldId id="269"/>
            <p14:sldId id="270"/>
            <p14:sldId id="271"/>
            <p14:sldId id="272"/>
          </p14:sldIdLst>
        </p14:section>
        <p14:section name="Closing" id="{553562cc-a571-b6ea-57e9-5a5fe4e9900c}">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Agentic AI Summit 2026! Introduce yourself, thank everyone for joining live on YouTube, LinkedIn and Instagram, and set the tone: a full day of practical sessions from 13 speakers, 11 of them Microsoft MVPs.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housekeeping: questions in the chat, share with #AgenticAISummit2026, registered attendees can claim their passport stamp, and every session will be on YouTube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Innovation Tech Community in a few lines: an open, independent community started in Bengaluru. Mention the founders and invite people to join the WhatsApp community and create a member account for the learning passport.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day quickly. Each session is 35 minutes (the opening session is 45). Encourage people to stay for the whole day and to add the stream to their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Good morning everyone, and welcome to Agentic AI Summit 2026! We are opening the day with not one but two Microsoft MVPs: Nanddeep Nachan and Smita Nachan.
Nanddeep is a Microsoft MVP and a Microsoft Certified Trainer based in Pune. He is a results-oriented consultant who has designed and delivered large-scale projects across Microsoft 365, Power Platform and Microsoft Azure. He is also a prolific author: his book Mastering SharePoint Framework is an Amazon bestseller, and he has written two books with Apress, on hybrid SharePoint environments and on Microsoft Viva Connections. On Udemy, he teaches courses including AB-730, AI Business Professional with Microsoft 365 Copilot.
Smita is a Microsoft 365 Architect with more than 17 years of experience, and she is a Microsoft MVP in two categories: Microsoft 365 and AI Platform. She is a Certified ScrumMaster, and you may have seen her speaking at SharePoint Saturdays, the Global Microsoft 365 Developer Bootcamp and the Global Power Platform Bootcamp. She also writes, podcasts and runs webinars for the community.
Today they will show us how to build a secure, multi-tool AI agent in Microsoft Foundry: an agent that calls a live weather API through an OpenAPI tool, reads Microsoft Learn through an MCP server, stays safe with content-safety guardrails, and can be audited through traces.
Please drop your questions in the chat as we go. Nanddeep, Smita, the stage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Our next speaker is someone very close to this community: Divya Akula, one of the co-founders of Innovation Tech Community.
Divya is a Microsoft AI MVP and a Senior Technical Consultant for AI and Microsoft Copilot solutions. She is an AI engineer and community speaker who loves building practical AI applications.
[Host: add one or two personal highlights here. Divya's profile bio still needs updating.]
Her session is perfect if you have ever wanted to build your own assistant: "Build Your First AI Assistant: From Idea to Working Demo". Divya will walk us through an assistant that answers questions from your own documents: how to prepare documents for search and retrieval, connect them to an AI model, design prompts that show their sources, and test answer quality. You will leave with a clear implementation outline and a checklist for your own prototype.
Basic programming knowledge helps, but no prior AI experience is needed. Please welcome Divya!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It is my pleasure to introduce the founder of Innovation Tech Community, Prathap Reddy.
Prathap is a Microsoft AI MVP and an AI Engineer at Sulava Mea. As an Agentic AI consultant, he specialises in Microsoft AI technologies: Azure AI Foundry, Azure OpenAI, Microsoft Copilot Studio and Microsoft 365 Copilot. He helps organisations design and build enterprise-grade AI solutions using agents, RAG architectures and intelligent automation, and his focus is on turning innovative ideas into secure, scalable, production-ready applications.
His expertise spans agent orchestration, multi-agent systems, enterprise knowledge integration, workflow automation and responsible AI. And as the founder of this community, he has brought together everyone you are seeing on screen today.
His session is "From Copilots to Autonomous Agents: Building Agentic AI with Microsoft Foundry". He will cover the Foundry agent architecture, tool calling and orchestration, knowledge integration with RAG, multi-agent collaboration patterns, enterprise security and responsible AI, and best practices for production. The goal: moving from AI experiments to production-ready agentic solutions.
Please welcome Prathap!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Our next speaker is joining us all the way from Cork, in Ireland: Frank Falvey. And since it is very early morning in Ireland right now, a special thank you to Frank!
Frank is a Microsoft MVP, a Microsoft Certified Trainer and a Microsoft 365 Copilot specialist. He brings more than 25 years of experience across IT, enterprise infrastructure, cloud technologies and technical training, and he is known for his friendly, hands-on approach: making complex topics easy to understand and helping people feel confident with technology.
He is an active member of the Microsoft community and the host of the Azure and AI Show, where he explores new ideas and helps people adopt emerging technologies.
His session is "Microsoft Agentic AI: Framework Overview and Live Agent Demos". Frank will take us into the world of agentic AI, where systems no longer just respond, but reason, plan and collaborate. He will look at tools from Microsoft's ecosystem, including AutoGen, Semantic Kernel and Copilot Studio, with live demos and a short case study.
Over to you, Frank!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Next, please welcome Vinoth Rajendran.
Vinoth is a Microsoft AI MVP, a software developer and a passionate technology speaker. He specialises in Generative AI, Azure AI and intelligent agents, with deep expertise in Microsoft Copilot Studio, Semantic Kernel and .NET. You will often find him at community events sharing technical sessions and hands-on demonstrations that help developers build real-world AI solutions.
His session today is "From Idea to Agent: Building with Microsoft Agent Framework". If you have an idea for an AI agent, this is the session for you: Vinoth will show how to turn it into a practical agent with Microsoft Agent Framework, one that can reason, take action and integrate with real-world systems, and how to move from experiments towards production-ready agentic applications.
Keep your questions coming in the chat. Vinoth, over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Our next speaker is Ashutosh Singh, Copilot Studio subject matter expert at Tata Consultancy Services.
Ashutosh has hands-on experience in CRM and Microsoft Power Platform, with a growing focus on Copilot Studio and agentic AI. What I love about his approach is that he wants AI to solve real business problems, not stay a proof of concept. He learns by building, and he enjoys sharing practical experience so that others can start working with AI agents too.
That is exactly what his session is about: "Building SnowPilot: Agentic AI in Action with Copilot Studio". SnowPilot is an AI agent Ashutosh built with Microsoft Copilot Studio and connected to ServiceNow. It understands a support issue, checks whether a similar ticket already exists before creating a new one, and takes part in a real support workflow. He will also go behind the scenes: instructions, skills, tools and knowledge, plus the debugging lessons he learned along the way.
Please welcome Ashutosh!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Our next speaker is Sujin Nelladath, joining us from Bangalore.
Sujin is a Microsoft MVP and a modern workplace architect at NTT Data, with a particular interest in Microsoft Intune, Microsoft Graph, cloud and automation. His journey is inspiring: he started in IT as a desktop engineer in 2013, moved into SCCM, and worked his way up to advising organisations on their journey to the cloud. His expertise spans Intune, SCCM, PowerShell automation, Copilot Studio and Microsoft Foundry.
Teaching is his passion. He writes blogs, creates videos and has trained many candidates, helping them kickstart their careers in IT.
His session is "AI-Powered IT Operations: Troubleshooting Smarter with MCP and Microsoft Learn". Using real endpoint-management scenarios, he will show how Model Context Protocol and Microsoft Learn connectors bring trusted technical knowledge into AI conversations, so administrators can diagnose issues faster and spend less time searching for answers. If you manage Intune, Azure, Windows devices or Microsoft 365, this one is for you.
Over to you, Sujin!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Please welcome our next speaker, Kritika Mehta.
Kritika is a Solution Architect who has worked with Microsoft Dynamics since the C/SIDE and Classic Client era: more than 15 years in the Dynamics trenches. Her focus is not just on building features, but on understanding how AI can take away the busy work, and how years of customisations and business logic fit into an AI world.
She explores all of this in public: on her YouTube channel, Architect AI Lab, she shares what she is learning about AI in Dynamics 365 Business Central, and on her podcast, Architects in the AI Era, she talks with guests about their perspectives on AI. In her own words, she does not care much for the AI hype; she cares about building stable, trustworthy AI solutions that actually work for customers.
Her session is "The Zero-Handoff ERP: Architecting a Multi-Agent Workforce". Kritika will demonstrate a hub-and-spoke solution she built with Copilot Studio and Business Central, where an orchestrator coordinates specialised child agents across a multi-step business workflow.
Kritika, over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Our next speaker is Shantha Kumar T, joining us from Chennai.
Shantha is a Microsoft Copilot MVP and the Chief Technology Officer at SharePoint Designs. He has 19 years of experience in the modern workspace, and he has worked in every role along the way: developer, UI designer and architect. Today, cloud, the modern workspace and AI are at the centre of his work.
His session is "Building with Confidence: Inside Microsoft's Copilot Managed Runtime". This is a live demo of a brand-new capability: code that runs directly inside the Microsoft 365 boundary, so you do not need to set up external cloud resources, custom runtimes or separate hosting. Shantha will build and deploy an application end to end, from the command line to a managed app, and show how it brings IT governance and developer workflows together, production-ready by default.
Please welcome Shantha!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Our next speaker has a remarkable list of achievements: Janarthanan Selvaraj.
Janarthanan is a Senior Manager, Technology and AI Expert at Atos. He is an alumnus of the University of Cambridge's FUEL Leadership flagship programme and a graduate of Anna University, and he received the Microsoft MVP award in the AI category for his expertise in Microsoft Foundry.
He is also a Guinness World Record holder, a Microsoft Certified Community Lead, a six-time Microsoft Certified Trainer, a Microsoft Learn Expert in Data and AI, and a C# Corner MVP. And he holds 40 cloud certifications across Microsoft Azure, AWS, Google Cloud, Oracle and Aviatrix!
His session is "Agents of Tomorrow: Building the Next Generation of AI with Microsoft Foundry". Janarthanan will show how Model Context Protocol lets agents discover and use tools, and how Azure Logic Apps gives a secure, low-code way to connect them to enterprise applications and APIs. Through a live demo, you will see an agent go beyond chat: retrieving data, automating workflows and taking action across an organisation.
Please welcome Janarthanan!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Our next speaker brings a security lens to agentic AI: Samik Roy.
Samik is a Microsoft MVP specialising in threat intelligence, Microsoft Sentinel, Defender XDR and the Azure security stack. His work sits at the intersection of practical security engineering and clear, actionable education. He designs and modernises SOC architectures, builds KQL-powered detection libraries and automation, and creates tools like ms-sentinel-scout. He has led enterprise-scale Sentinel deployments, trained hundreds of analysts through his KQL course on Udemy, written a book on KQL for Microsoft Sentinel, and he publishes Signals and Shadows, a monthly threat-intelligence newsletter.
His session is "More Than Prompt Safety and IAM: Design Policy-as-Code for Deterministic Multi-Agent AI Workflows". Samik will show why system prompts and traditional IAM are not security boundaries for autonomous agents, and how to intercept tool calls with policy-as-code, using live attack-and-defend scenarios based on the OWASP agentic AI risks. This is an advanced session, so get ready!
Please welcome Samik!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Closing our sessions today is Lalit Rawat, who will take us from AI experiments all the way to production, securely.
Lalit is the Chief Information Security Officer at Kanerika and a Distinguished Lead Engineer, with more than 19 years of experience in Microsoft technologies, enterprise architecture, cloud security and AI-driven innovation. He is a Microsoft MVP and a Microsoft Certified Trainer, and he specialises in secure, scalable, cloud-native solutions on Azure: Zero Trust, DevSecOps, cybersecurity governance, AI security and enterprise AI architecture. His passion is helping organisations bridge the gap between innovation and security, so they can adopt new technology responsibly.
His session is "From AI PoC Chaos to Production: Building a Secure Enterprise AI Landing Zone on Azure". As Lalit says, most AI projects don't fail at the proof-of-concept stage; they fail when someone says, "Let's take this to production". He will take a typical PoC, with public access, shared secrets and broad permissions, and redesign it into a secure, production-ready enterprise AI landing zone using Microsoft Foundry, Azure OpenAI, Microsoft Entra ID, managed identities, private endpoints, secure RAG, Azure Policy, observability and FinOps. In his words: no AI hype, just practical architecture.
Please welcome Lalit!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 speaker by name, the audience and the volunteers. Remind people to claim their passport stamp, that recordings are on YouTube, and invite everyone to Agent Universe 2026 on 14 November (register at innovationtechcommunity.com/agent-universe).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Speaker-intro-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3093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749040"/>
            <a:ext cx="630936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55080"/>
            <a:ext cx="6400800" cy="320040"/>
          </a:xfrm>
          <a:prstGeom prst="rect">
            <a:avLst/>
          </a:prstGeom>
          <a:noFill/>
          <a:ln/>
        </p:spPr>
        <p:txBody>
          <a:bodyPr wrap="square" lIns="0" tIns="0" rIns="0" bIns="0" rtlCol="0" anchor="ctr"/>
          <a:lstStyle/>
          <a:p>
            <a:pPr indent="0" marL="0">
              <a:buNone/>
            </a:pPr>
            <a:r>
              <a:rPr lang="en-US" sz="1000" dirty="0">
                <a:solidFill>
                  <a:schemeClr val="accent5"/>
                </a:solidFill>
              </a:rPr>
              <a:t>Agentic AI Summit 2026  ·  #AgenticAISummit2026</a:t>
            </a:r>
            <a:endParaRPr lang="en-US" sz="1000" dirty="0"/>
          </a:p>
        </p:txBody>
      </p:sp>
      <p:pic>
        <p:nvPicPr>
          <p:cNvPr id="3" name="Image 0" descr="/Users/prathapreddy/agentic-ai-summit-2026/tools/.cache/assets/itc-logo.png">    </p:cNvPr>
          <p:cNvPicPr>
            <a:picLocks noChangeAspect="1"/>
          </p:cNvPicPr>
          <p:nvPr/>
        </p:nvPicPr>
        <p:blipFill>
          <a:blip r:embed="rId1"/>
          <a:stretch>
            <a:fillRect/>
          </a:stretch>
        </p:blipFill>
        <p:spPr>
          <a:xfrm>
            <a:off x="11201400" y="6236208"/>
            <a:ext cx="438912" cy="438912"/>
          </a:xfrm>
          <a:prstGeom prst="rect">
            <a:avLst/>
          </a:prstGeom>
        </p:spPr>
      </p:pic>
      <p:sp>
        <p:nvSpPr>
          <p:cNvPr id="4" name="Text 1"/>
          <p:cNvSpPr/>
          <p:nvPr>
            <p:ph idx="102" type="title" hasCustomPrompt="1"/>
          </p:nvPr>
        </p:nvSpPr>
        <p:spPr>
          <a:xfrm>
            <a:off x="548640" y="411480"/>
            <a:ext cx="1005840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eaker 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55080"/>
            <a:ext cx="6400800" cy="320040"/>
          </a:xfrm>
          <a:prstGeom prst="rect">
            <a:avLst/>
          </a:prstGeom>
          <a:noFill/>
          <a:ln/>
        </p:spPr>
        <p:txBody>
          <a:bodyPr wrap="square" lIns="0" tIns="0" rIns="0" bIns="0" rtlCol="0" anchor="ctr"/>
          <a:lstStyle/>
          <a:p>
            <a:pPr indent="0" marL="0">
              <a:buNone/>
            </a:pPr>
            <a:r>
              <a:rPr lang="en-US" sz="1000" dirty="0">
                <a:solidFill>
                  <a:schemeClr val="accent5"/>
                </a:solidFill>
              </a:rPr>
              <a:t>Agentic AI Summit 2026  ·  #AgenticAISummit2026</a:t>
            </a:r>
            <a:endParaRPr lang="en-US" sz="1000" dirty="0"/>
          </a:p>
        </p:txBody>
      </p:sp>
      <p:pic>
        <p:nvPicPr>
          <p:cNvPr id="3" name="Image 0" descr="/Users/prathapreddy/agentic-ai-summit-2026/tools/.cache/assets/itc-logo.png">    </p:cNvPr>
          <p:cNvPicPr>
            <a:picLocks noChangeAspect="1"/>
          </p:cNvPicPr>
          <p:nvPr/>
        </p:nvPicPr>
        <p:blipFill>
          <a:blip r:embed="rId1"/>
          <a:stretch>
            <a:fillRect/>
          </a:stretch>
        </p:blipFill>
        <p:spPr>
          <a:xfrm>
            <a:off x="11201400" y="6236208"/>
            <a:ext cx="438912" cy="438912"/>
          </a:xfrm>
          <a:prstGeom prst="rect">
            <a:avLst/>
          </a:prstGeom>
        </p:spPr>
      </p:pic>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40080" y="1325880"/>
            <a:ext cx="5486400" cy="365760"/>
          </a:xfrm>
          <a:prstGeom prst="rect">
            <a:avLst/>
          </a:prstGeom>
          <a:noFill/>
          <a:ln/>
        </p:spPr>
        <p:txBody>
          <a:bodyPr wrap="square" lIns="0" tIns="0" rIns="0" bIns="0" rtlCol="0" anchor="ctr"/>
          <a:lstStyle/>
          <a:p>
            <a:pPr indent="0" marL="0">
              <a:buNone/>
            </a:pPr>
            <a:r>
              <a:rPr lang="en-US" sz="1600" b="1" spc="600" kern="0" dirty="0">
                <a:solidFill>
                  <a:schemeClr val="bg2"/>
                </a:solidFill>
              </a:rPr>
              <a:t>WELCOME TO</a:t>
            </a:r>
            <a:endParaRPr lang="en-US" sz="1600" dirty="0"/>
          </a:p>
        </p:txBody>
      </p:sp>
      <p:sp>
        <p:nvSpPr>
          <p:cNvPr id="3" name="Text 0"/>
          <p:cNvSpPr/>
          <p:nvPr>
            <p:ph idx="100" type="title" hasCustomPrompt="1"/>
          </p:nvPr>
        </p:nvSpPr>
        <p:spPr>
          <a:xfrm>
            <a:off x="640080" y="1828800"/>
            <a:ext cx="6309360" cy="1737360"/>
          </a:xfrm>
          <a:prstGeom prst="rect">
            <a:avLst/>
          </a:prstGeom>
          <a:noFill/>
          <a:ln/>
        </p:spPr>
        <p:txBody>
          <a:bodyPr wrap="square" lIns="0" tIns="0" rIns="0" bIns="0" rtlCol="0" anchor="b"/>
          <a:lstStyle/>
          <a:p>
            <a:pPr algn="l" indent="0" marL="0">
              <a:buNone/>
            </a:pPr>
            <a:r>
              <a:rPr lang="en-US" sz="4400" b="1" dirty="0">
                <a:solidFill>
                  <a:schemeClr val="bg1"/>
                </a:solidFill>
              </a:rPr>
              <a:t>Agentic AI Summit 2026</a:t>
            </a:r>
            <a:endParaRPr lang="en-US" sz="4400" dirty="0"/>
          </a:p>
        </p:txBody>
      </p:sp>
      <p:sp>
        <p:nvSpPr>
          <p:cNvPr id="4" name="Text 0"/>
          <p:cNvSpPr/>
          <p:nvPr>
            <p:ph idx="101" type="body" hasCustomPrompt="1"/>
          </p:nvPr>
        </p:nvSpPr>
        <p:spPr>
          <a:xfrm>
            <a:off x="640080" y="3749040"/>
            <a:ext cx="6309360" cy="1371600"/>
          </a:xfrm>
          <a:prstGeom prst="rect">
            <a:avLst/>
          </a:prstGeom>
          <a:noFill/>
          <a:ln/>
        </p:spPr>
        <p:txBody>
          <a:bodyPr wrap="square" lIns="0" tIns="0" rIns="0" bIns="0" rtlCol="0" anchor="t"/>
          <a:lstStyle/>
          <a:p>
            <a:pPr algn="l" indent="0" marL="0">
              <a:buNone/>
            </a:pPr>
            <a:r>
              <a:rPr lang="en-US" sz="1800" dirty="0">
                <a:solidFill>
                  <a:schemeClr val="bg2"/>
                </a:solidFill>
              </a:rPr>
              <a:t>Saturday, 24 October 2026  ·  9:00 AM – 4:10 PM IST</a:t>
            </a:r>
            <a:endParaRPr lang="en-US" sz="1800" dirty="0"/>
          </a:p>
          <a:p>
            <a:pPr algn="l" indent="0" marL="0">
              <a:buNone/>
            </a:pPr>
            <a:r>
              <a:rPr lang="en-US" sz="1800" dirty="0">
                <a:solidFill>
                  <a:schemeClr val="bg2"/>
                </a:solidFill>
              </a:rPr>
              <a:t>Live on YouTube, LinkedIn &amp; Instagram  ·  Presented by Innovation Tech Community</a:t>
            </a:r>
            <a:endParaRPr lang="en-US" sz="1800" dirty="0"/>
          </a:p>
        </p:txBody>
      </p:sp>
      <p:pic>
        <p:nvPicPr>
          <p:cNvPr id="5" name="Event poster" descr="/Users/prathapreddy/agentic-ai-summit-2026/tools/.cache/assets/poster.png">    </p:cNvPr>
          <p:cNvPicPr>
            <a:picLocks noChangeAspect="1"/>
          </p:cNvPicPr>
          <p:nvPr/>
        </p:nvPicPr>
        <p:blipFill>
          <a:blip r:embed="rId1"/>
          <a:stretch>
            <a:fillRect/>
          </a:stretch>
        </p:blipFill>
        <p:spPr>
          <a:xfrm>
            <a:off x="7269480" y="1691640"/>
            <a:ext cx="4389120" cy="2468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0058400" cy="777240"/>
          </a:xfrm>
          <a:prstGeom prst="rect">
            <a:avLst/>
          </a:prstGeom>
          <a:noFill/>
          <a:ln/>
        </p:spPr>
        <p:txBody>
          <a:bodyPr wrap="square" lIns="0" tIns="0" rIns="0" bIns="0" rtlCol="0" anchor="ctr"/>
          <a:lstStyle/>
          <a:p>
            <a:pPr algn="l" indent="0" marL="0">
              <a:buNone/>
            </a:pPr>
            <a:r>
              <a:rPr lang="en-US" sz="3200" b="1" dirty="0">
                <a:solidFill>
                  <a:schemeClr val="tx2"/>
                </a:solidFill>
              </a:rPr>
              <a:t>Before we begin</a:t>
            </a:r>
            <a:endParaRPr lang="en-US" sz="3200" dirty="0"/>
          </a:p>
        </p:txBody>
      </p:sp>
      <p:sp>
        <p:nvSpPr>
          <p:cNvPr id="3" name="Tip card 1"/>
          <p:cNvSpPr/>
          <p:nvPr/>
        </p:nvSpPr>
        <p:spPr>
          <a:xfrm>
            <a:off x="548640" y="1600200"/>
            <a:ext cx="2606040" cy="3840480"/>
          </a:xfrm>
          <a:prstGeom prst="roundRect">
            <a:avLst>
              <a:gd name="adj" fmla="val 5263"/>
            </a:avLst>
          </a:prstGeom>
          <a:solidFill>
            <a:schemeClr val="bg1"/>
          </a:solidFill>
          <a:ln w="12700">
            <a:solidFill>
              <a:schemeClr val="bg2"/>
            </a:solidFill>
            <a:prstDash val="solid"/>
          </a:ln>
          <a:effectLst>
            <a:outerShdw sx="100000" sy="100000" kx="0" ky="0" algn="bl" rotWithShape="0" blurRad="152400" dist="38100" dir="5400000">
              <a:srgbClr val="1E2A78">
                <a:alpha val="12000"/>
              </a:srgbClr>
            </a:outerShdw>
          </a:effectLst>
        </p:spPr>
      </p:sp>
      <p:sp>
        <p:nvSpPr>
          <p:cNvPr id="4" name="Tip icon circle 1"/>
          <p:cNvSpPr/>
          <p:nvPr/>
        </p:nvSpPr>
        <p:spPr>
          <a:xfrm>
            <a:off x="822960" y="1920240"/>
            <a:ext cx="822960" cy="822960"/>
          </a:xfrm>
          <a:prstGeom prst="ellipse">
            <a:avLst/>
          </a:prstGeom>
          <a:solidFill>
            <a:schemeClr val="accent1"/>
          </a:solidFill>
          <a:ln/>
        </p:spPr>
      </p:sp>
      <p:pic>
        <p:nvPicPr>
          <p:cNvPr id="5" name="Tip icon 1" descr="/Users/prathapreddy/agentic-ai-summit-2026/tools/.cache/img/ic-chat-w.png">    </p:cNvPr>
          <p:cNvPicPr>
            <a:picLocks noChangeAspect="1"/>
          </p:cNvPicPr>
          <p:nvPr/>
        </p:nvPicPr>
        <p:blipFill>
          <a:blip r:embed="rId1"/>
          <a:stretch>
            <a:fillRect/>
          </a:stretch>
        </p:blipFill>
        <p:spPr>
          <a:xfrm>
            <a:off x="1024128" y="2121408"/>
            <a:ext cx="420624" cy="420624"/>
          </a:xfrm>
          <a:prstGeom prst="rect">
            <a:avLst/>
          </a:prstGeom>
        </p:spPr>
      </p:pic>
      <p:sp>
        <p:nvSpPr>
          <p:cNvPr id="6" name="Text 3"/>
          <p:cNvSpPr txBox="1"/>
          <p:nvPr/>
        </p:nvSpPr>
        <p:spPr>
          <a:xfrm>
            <a:off x="822960" y="2971800"/>
            <a:ext cx="210312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Ask in the chat</a:t>
            </a:r>
            <a:endParaRPr lang="en-US" sz="2000" dirty="0"/>
          </a:p>
        </p:txBody>
      </p:sp>
      <p:sp>
        <p:nvSpPr>
          <p:cNvPr id="7" name="Text 4"/>
          <p:cNvSpPr txBox="1"/>
          <p:nvPr/>
        </p:nvSpPr>
        <p:spPr>
          <a:xfrm>
            <a:off x="822960" y="3520440"/>
            <a:ext cx="2103120" cy="1645920"/>
          </a:xfrm>
          <a:prstGeom prst="rect">
            <a:avLst/>
          </a:prstGeom>
          <a:noFill/>
          <a:ln/>
        </p:spPr>
        <p:txBody>
          <a:bodyPr wrap="square" lIns="0" tIns="0" rIns="0" bIns="0" rtlCol="0" anchor="t"/>
          <a:lstStyle/>
          <a:p>
            <a:pPr indent="0" marL="0">
              <a:buNone/>
            </a:pPr>
            <a:r>
              <a:rPr lang="en-US" sz="1500" dirty="0">
                <a:solidFill>
                  <a:schemeClr val="accent5"/>
                </a:solidFill>
              </a:rPr>
              <a:t>Drop your questions any time. Speakers take questions at the end of each session.</a:t>
            </a:r>
            <a:endParaRPr lang="en-US" sz="1500" dirty="0"/>
          </a:p>
        </p:txBody>
      </p:sp>
      <p:sp>
        <p:nvSpPr>
          <p:cNvPr id="8" name="Tip card 2"/>
          <p:cNvSpPr/>
          <p:nvPr/>
        </p:nvSpPr>
        <p:spPr>
          <a:xfrm>
            <a:off x="3364992" y="1600200"/>
            <a:ext cx="2606040" cy="3840480"/>
          </a:xfrm>
          <a:prstGeom prst="roundRect">
            <a:avLst>
              <a:gd name="adj" fmla="val 5263"/>
            </a:avLst>
          </a:prstGeom>
          <a:solidFill>
            <a:schemeClr val="bg1"/>
          </a:solidFill>
          <a:ln w="12700">
            <a:solidFill>
              <a:schemeClr val="bg2"/>
            </a:solidFill>
            <a:prstDash val="solid"/>
          </a:ln>
          <a:effectLst>
            <a:outerShdw sx="100000" sy="100000" kx="0" ky="0" algn="bl" rotWithShape="0" blurRad="152400" dist="38100" dir="5400000">
              <a:srgbClr val="1E2A78">
                <a:alpha val="12000"/>
              </a:srgbClr>
            </a:outerShdw>
          </a:effectLst>
        </p:spPr>
      </p:sp>
      <p:sp>
        <p:nvSpPr>
          <p:cNvPr id="9" name="Tip icon circle 2"/>
          <p:cNvSpPr/>
          <p:nvPr/>
        </p:nvSpPr>
        <p:spPr>
          <a:xfrm>
            <a:off x="3639312" y="1920240"/>
            <a:ext cx="822960" cy="822960"/>
          </a:xfrm>
          <a:prstGeom prst="ellipse">
            <a:avLst/>
          </a:prstGeom>
          <a:solidFill>
            <a:schemeClr val="accent2"/>
          </a:solidFill>
          <a:ln/>
        </p:spPr>
      </p:sp>
      <p:pic>
        <p:nvPicPr>
          <p:cNvPr id="10" name="Tip icon 2" descr="/Users/prathapreddy/agentic-ai-summit-2026/tools/.cache/img/ic-hashtag-w.png">    </p:cNvPr>
          <p:cNvPicPr>
            <a:picLocks noChangeAspect="1"/>
          </p:cNvPicPr>
          <p:nvPr/>
        </p:nvPicPr>
        <p:blipFill>
          <a:blip r:embed="rId2"/>
          <a:stretch>
            <a:fillRect/>
          </a:stretch>
        </p:blipFill>
        <p:spPr>
          <a:xfrm>
            <a:off x="3840480" y="2121408"/>
            <a:ext cx="420624" cy="420624"/>
          </a:xfrm>
          <a:prstGeom prst="rect">
            <a:avLst/>
          </a:prstGeom>
        </p:spPr>
      </p:pic>
      <p:sp>
        <p:nvSpPr>
          <p:cNvPr id="11" name="Text 7"/>
          <p:cNvSpPr txBox="1"/>
          <p:nvPr/>
        </p:nvSpPr>
        <p:spPr>
          <a:xfrm>
            <a:off x="3639312" y="2971800"/>
            <a:ext cx="210312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Share the day</a:t>
            </a:r>
            <a:endParaRPr lang="en-US" sz="2000" dirty="0"/>
          </a:p>
        </p:txBody>
      </p:sp>
      <p:sp>
        <p:nvSpPr>
          <p:cNvPr id="12" name="Text 8"/>
          <p:cNvSpPr txBox="1"/>
          <p:nvPr/>
        </p:nvSpPr>
        <p:spPr>
          <a:xfrm>
            <a:off x="3639312" y="3520440"/>
            <a:ext cx="2103120" cy="1645920"/>
          </a:xfrm>
          <a:prstGeom prst="rect">
            <a:avLst/>
          </a:prstGeom>
          <a:noFill/>
          <a:ln/>
        </p:spPr>
        <p:txBody>
          <a:bodyPr wrap="square" lIns="0" tIns="0" rIns="0" bIns="0" rtlCol="0" anchor="t"/>
          <a:lstStyle/>
          <a:p>
            <a:pPr indent="0" marL="0">
              <a:buNone/>
            </a:pPr>
            <a:r>
              <a:rPr lang="en-US" sz="1500" dirty="0">
                <a:solidFill>
                  <a:schemeClr val="accent5"/>
                </a:solidFill>
              </a:rPr>
              <a:t>Post your takeaways with #AgenticAISummit2026 and tag Innovation Tech Community.</a:t>
            </a:r>
            <a:endParaRPr lang="en-US" sz="1500" dirty="0"/>
          </a:p>
        </p:txBody>
      </p:sp>
      <p:sp>
        <p:nvSpPr>
          <p:cNvPr id="13" name="Tip card 3"/>
          <p:cNvSpPr/>
          <p:nvPr/>
        </p:nvSpPr>
        <p:spPr>
          <a:xfrm>
            <a:off x="6181344" y="1600200"/>
            <a:ext cx="2606040" cy="3840480"/>
          </a:xfrm>
          <a:prstGeom prst="roundRect">
            <a:avLst>
              <a:gd name="adj" fmla="val 5263"/>
            </a:avLst>
          </a:prstGeom>
          <a:solidFill>
            <a:schemeClr val="bg1"/>
          </a:solidFill>
          <a:ln w="12700">
            <a:solidFill>
              <a:schemeClr val="bg2"/>
            </a:solidFill>
            <a:prstDash val="solid"/>
          </a:ln>
          <a:effectLst>
            <a:outerShdw sx="100000" sy="100000" kx="0" ky="0" algn="bl" rotWithShape="0" blurRad="152400" dist="38100" dir="5400000">
              <a:srgbClr val="1E2A78">
                <a:alpha val="12000"/>
              </a:srgbClr>
            </a:outerShdw>
          </a:effectLst>
        </p:spPr>
      </p:sp>
      <p:sp>
        <p:nvSpPr>
          <p:cNvPr id="14" name="Tip icon circle 3"/>
          <p:cNvSpPr/>
          <p:nvPr/>
        </p:nvSpPr>
        <p:spPr>
          <a:xfrm>
            <a:off x="6455664" y="1920240"/>
            <a:ext cx="822960" cy="822960"/>
          </a:xfrm>
          <a:prstGeom prst="ellipse">
            <a:avLst/>
          </a:prstGeom>
          <a:solidFill>
            <a:schemeClr val="accent3"/>
          </a:solidFill>
          <a:ln/>
        </p:spPr>
      </p:sp>
      <p:pic>
        <p:nvPicPr>
          <p:cNvPr id="15" name="Tip icon 3" descr="/Users/prathapreddy/agentic-ai-summit-2026/tools/.cache/img/ic-passport-w.png">    </p:cNvPr>
          <p:cNvPicPr>
            <a:picLocks noChangeAspect="1"/>
          </p:cNvPicPr>
          <p:nvPr/>
        </p:nvPicPr>
        <p:blipFill>
          <a:blip r:embed="rId3"/>
          <a:stretch>
            <a:fillRect/>
          </a:stretch>
        </p:blipFill>
        <p:spPr>
          <a:xfrm>
            <a:off x="6656832" y="2121408"/>
            <a:ext cx="420624" cy="420624"/>
          </a:xfrm>
          <a:prstGeom prst="rect">
            <a:avLst/>
          </a:prstGeom>
        </p:spPr>
      </p:pic>
      <p:sp>
        <p:nvSpPr>
          <p:cNvPr id="16" name="Text 11"/>
          <p:cNvSpPr txBox="1"/>
          <p:nvPr/>
        </p:nvSpPr>
        <p:spPr>
          <a:xfrm>
            <a:off x="6455664" y="2971800"/>
            <a:ext cx="210312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Claim your stamp</a:t>
            </a:r>
            <a:endParaRPr lang="en-US" sz="2000" dirty="0"/>
          </a:p>
        </p:txBody>
      </p:sp>
      <p:sp>
        <p:nvSpPr>
          <p:cNvPr id="17" name="Text 12"/>
          <p:cNvSpPr txBox="1"/>
          <p:nvPr/>
        </p:nvSpPr>
        <p:spPr>
          <a:xfrm>
            <a:off x="6455664" y="3520440"/>
            <a:ext cx="2103120" cy="1645920"/>
          </a:xfrm>
          <a:prstGeom prst="rect">
            <a:avLst/>
          </a:prstGeom>
          <a:noFill/>
          <a:ln/>
        </p:spPr>
        <p:txBody>
          <a:bodyPr wrap="square" lIns="0" tIns="0" rIns="0" bIns="0" rtlCol="0" anchor="t"/>
          <a:lstStyle/>
          <a:p>
            <a:pPr indent="0" marL="0">
              <a:buNone/>
            </a:pPr>
            <a:r>
              <a:rPr lang="en-US" sz="1500" dirty="0">
                <a:solidFill>
                  <a:schemeClr val="accent5"/>
                </a:solidFill>
              </a:rPr>
              <a:t>Registered? Sign in at innovationtechcommunity.com and claim your passport stamp.</a:t>
            </a:r>
            <a:endParaRPr lang="en-US" sz="1500" dirty="0"/>
          </a:p>
        </p:txBody>
      </p:sp>
      <p:sp>
        <p:nvSpPr>
          <p:cNvPr id="18" name="Tip card 4"/>
          <p:cNvSpPr/>
          <p:nvPr/>
        </p:nvSpPr>
        <p:spPr>
          <a:xfrm>
            <a:off x="8997696" y="1600200"/>
            <a:ext cx="2606040" cy="3840480"/>
          </a:xfrm>
          <a:prstGeom prst="roundRect">
            <a:avLst>
              <a:gd name="adj" fmla="val 5263"/>
            </a:avLst>
          </a:prstGeom>
          <a:solidFill>
            <a:schemeClr val="bg1"/>
          </a:solidFill>
          <a:ln w="12700">
            <a:solidFill>
              <a:schemeClr val="bg2"/>
            </a:solidFill>
            <a:prstDash val="solid"/>
          </a:ln>
          <a:effectLst>
            <a:outerShdw sx="100000" sy="100000" kx="0" ky="0" algn="bl" rotWithShape="0" blurRad="152400" dist="38100" dir="5400000">
              <a:srgbClr val="1E2A78">
                <a:alpha val="12000"/>
              </a:srgbClr>
            </a:outerShdw>
          </a:effectLst>
        </p:spPr>
      </p:sp>
      <p:sp>
        <p:nvSpPr>
          <p:cNvPr id="19" name="Tip icon circle 4"/>
          <p:cNvSpPr/>
          <p:nvPr/>
        </p:nvSpPr>
        <p:spPr>
          <a:xfrm>
            <a:off x="9272016" y="1920240"/>
            <a:ext cx="822960" cy="822960"/>
          </a:xfrm>
          <a:prstGeom prst="ellipse">
            <a:avLst/>
          </a:prstGeom>
          <a:solidFill>
            <a:schemeClr val="accent4"/>
          </a:solidFill>
          <a:ln/>
        </p:spPr>
      </p:sp>
      <p:pic>
        <p:nvPicPr>
          <p:cNvPr id="20" name="Tip icon 4" descr="/Users/prathapreddy/agentic-ai-summit-2026/tools/.cache/img/ic-play-w.png">    </p:cNvPr>
          <p:cNvPicPr>
            <a:picLocks noChangeAspect="1"/>
          </p:cNvPicPr>
          <p:nvPr/>
        </p:nvPicPr>
        <p:blipFill>
          <a:blip r:embed="rId4"/>
          <a:stretch>
            <a:fillRect/>
          </a:stretch>
        </p:blipFill>
        <p:spPr>
          <a:xfrm>
            <a:off x="9473184" y="2121408"/>
            <a:ext cx="420624" cy="420624"/>
          </a:xfrm>
          <a:prstGeom prst="rect">
            <a:avLst/>
          </a:prstGeom>
        </p:spPr>
      </p:pic>
      <p:sp>
        <p:nvSpPr>
          <p:cNvPr id="21" name="Text 15"/>
          <p:cNvSpPr txBox="1"/>
          <p:nvPr/>
        </p:nvSpPr>
        <p:spPr>
          <a:xfrm>
            <a:off x="9272016" y="2971800"/>
            <a:ext cx="210312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Watch it again</a:t>
            </a:r>
            <a:endParaRPr lang="en-US" sz="2000" dirty="0"/>
          </a:p>
        </p:txBody>
      </p:sp>
      <p:sp>
        <p:nvSpPr>
          <p:cNvPr id="22" name="Text 16"/>
          <p:cNvSpPr txBox="1"/>
          <p:nvPr/>
        </p:nvSpPr>
        <p:spPr>
          <a:xfrm>
            <a:off x="9272016" y="3520440"/>
            <a:ext cx="2103120" cy="1645920"/>
          </a:xfrm>
          <a:prstGeom prst="rect">
            <a:avLst/>
          </a:prstGeom>
          <a:noFill/>
          <a:ln/>
        </p:spPr>
        <p:txBody>
          <a:bodyPr wrap="square" lIns="0" tIns="0" rIns="0" bIns="0" rtlCol="0" anchor="t"/>
          <a:lstStyle/>
          <a:p>
            <a:pPr indent="0" marL="0">
              <a:buNone/>
            </a:pPr>
            <a:r>
              <a:rPr lang="en-US" sz="1500" dirty="0">
                <a:solidFill>
                  <a:schemeClr val="accent5"/>
                </a:solidFill>
              </a:rPr>
              <a:t>Every session stays on our YouTube channel, so you can catch up later.</a:t>
            </a:r>
            <a:endParaRPr lang="en-US" sz="15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0058400" cy="777240"/>
          </a:xfrm>
          <a:prstGeom prst="rect">
            <a:avLst/>
          </a:prstGeom>
          <a:noFill/>
          <a:ln/>
        </p:spPr>
        <p:txBody>
          <a:bodyPr wrap="square" lIns="0" tIns="0" rIns="0" bIns="0" rtlCol="0" anchor="ctr"/>
          <a:lstStyle/>
          <a:p>
            <a:pPr algn="l" indent="0" marL="0">
              <a:buNone/>
            </a:pPr>
            <a:r>
              <a:rPr lang="en-US" sz="3200" b="1" dirty="0">
                <a:solidFill>
                  <a:schemeClr val="tx2"/>
                </a:solidFill>
              </a:rPr>
              <a:t>About Innovation Tech Community</a:t>
            </a:r>
            <a:endParaRPr lang="en-US" sz="3200" dirty="0"/>
          </a:p>
        </p:txBody>
      </p:sp>
      <p:sp>
        <p:nvSpPr>
          <p:cNvPr id="3" name="Text 1"/>
          <p:cNvSpPr txBox="1"/>
          <p:nvPr/>
        </p:nvSpPr>
        <p:spPr>
          <a:xfrm>
            <a:off x="548640" y="1371600"/>
            <a:ext cx="6949440" cy="548640"/>
          </a:xfrm>
          <a:prstGeom prst="rect">
            <a:avLst/>
          </a:prstGeom>
          <a:noFill/>
          <a:ln/>
        </p:spPr>
        <p:txBody>
          <a:bodyPr wrap="square" lIns="0" tIns="0" rIns="0" bIns="0" rtlCol="0" anchor="ctr"/>
          <a:lstStyle/>
          <a:p>
            <a:pPr indent="0" marL="0">
              <a:buNone/>
            </a:pPr>
            <a:r>
              <a:rPr lang="en-US" sz="2200" i="1" dirty="0">
                <a:solidFill>
                  <a:schemeClr val="accent2"/>
                </a:solidFill>
              </a:rPr>
              <a:t>Learn together. Build together. Grow together.</a:t>
            </a:r>
            <a:endParaRPr lang="en-US" sz="2200" dirty="0"/>
          </a:p>
        </p:txBody>
      </p:sp>
      <p:sp>
        <p:nvSpPr>
          <p:cNvPr id="4" name="Text 2"/>
          <p:cNvSpPr txBox="1"/>
          <p:nvPr/>
        </p:nvSpPr>
        <p:spPr>
          <a:xfrm>
            <a:off x="548640" y="2103120"/>
            <a:ext cx="6766560" cy="20116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An open, independent community for technology enthusiasts, started in Bengaluru</a:t>
            </a:r>
            <a:endParaRPr lang="en-US" sz="1800" dirty="0"/>
          </a:p>
          <a:p>
            <a:pPr marL="342900" indent="-342900">
              <a:spcAft>
                <a:spcPts val="800"/>
              </a:spcAft>
              <a:buSzPct val="100000"/>
              <a:buChar char="•"/>
            </a:pPr>
            <a:r>
              <a:rPr lang="en-US" sz="1800" dirty="0">
                <a:solidFill>
                  <a:schemeClr val="tx1"/>
                </a:solidFill>
              </a:rPr>
              <a:t>Meetups, workshops and summits, online and in person</a:t>
            </a:r>
            <a:endParaRPr lang="en-US" sz="1800" dirty="0"/>
          </a:p>
          <a:p>
            <a:pPr marL="342900" indent="-342900">
              <a:spcAft>
                <a:spcPts val="800"/>
              </a:spcAft>
              <a:buSzPct val="100000"/>
              <a:buChar char="•"/>
            </a:pPr>
            <a:r>
              <a:rPr lang="en-US" sz="1800" dirty="0">
                <a:solidFill>
                  <a:schemeClr val="tx1"/>
                </a:solidFill>
              </a:rPr>
              <a:t>A stage for first-time and experienced speakers alike</a:t>
            </a:r>
            <a:endParaRPr lang="en-US" sz="1800" dirty="0"/>
          </a:p>
          <a:p>
            <a:pPr marL="342900" indent="-342900">
              <a:spcAft>
                <a:spcPts val="800"/>
              </a:spcAft>
              <a:buSzPct val="100000"/>
              <a:buChar char="•"/>
            </a:pPr>
            <a:r>
              <a:rPr lang="en-US" sz="1800" dirty="0">
                <a:solidFill>
                  <a:schemeClr val="tx1"/>
                </a:solidFill>
              </a:rPr>
              <a:t>Your own learning passport with badges and stamps</a:t>
            </a:r>
            <a:endParaRPr lang="en-US" sz="1800" dirty="0"/>
          </a:p>
        </p:txBody>
      </p:sp>
      <p:sp>
        <p:nvSpPr>
          <p:cNvPr id="5" name="Text 3"/>
          <p:cNvSpPr txBox="1"/>
          <p:nvPr/>
        </p:nvSpPr>
        <p:spPr>
          <a:xfrm>
            <a:off x="548640" y="4343400"/>
            <a:ext cx="3657600" cy="320040"/>
          </a:xfrm>
          <a:prstGeom prst="rect">
            <a:avLst/>
          </a:prstGeom>
          <a:noFill/>
          <a:ln/>
        </p:spPr>
        <p:txBody>
          <a:bodyPr wrap="square" lIns="0" tIns="0" rIns="0" bIns="0" rtlCol="0" anchor="ctr"/>
          <a:lstStyle/>
          <a:p>
            <a:pPr indent="0" marL="0">
              <a:buNone/>
            </a:pPr>
            <a:r>
              <a:rPr lang="en-US" sz="1200" b="1" spc="400" kern="0" dirty="0">
                <a:solidFill>
                  <a:schemeClr val="accent5"/>
                </a:solidFill>
              </a:rPr>
              <a:t>FOUNDED BY</a:t>
            </a:r>
            <a:endParaRPr lang="en-US" sz="1200" dirty="0"/>
          </a:p>
        </p:txBody>
      </p:sp>
      <p:sp>
        <p:nvSpPr>
          <p:cNvPr id="6" name="Founder 1"/>
          <p:cNvSpPr/>
          <p:nvPr/>
        </p:nvSpPr>
        <p:spPr>
          <a:xfrm>
            <a:off x="548640" y="4754880"/>
            <a:ext cx="1600200" cy="548640"/>
          </a:xfrm>
          <a:prstGeom prst="roundRect">
            <a:avLst>
              <a:gd name="adj" fmla="val 50000"/>
            </a:avLst>
          </a:prstGeom>
          <a:solidFill>
            <a:schemeClr val="bg2"/>
          </a:solidFill>
          <a:ln/>
        </p:spPr>
      </p:sp>
      <p:sp>
        <p:nvSpPr>
          <p:cNvPr id="7" name="Text 5"/>
          <p:cNvSpPr txBox="1"/>
          <p:nvPr/>
        </p:nvSpPr>
        <p:spPr>
          <a:xfrm>
            <a:off x="548640" y="4754880"/>
            <a:ext cx="1600200" cy="548640"/>
          </a:xfrm>
          <a:prstGeom prst="rect">
            <a:avLst/>
          </a:prstGeom>
          <a:noFill/>
          <a:ln/>
        </p:spPr>
        <p:txBody>
          <a:bodyPr wrap="square" lIns="0" tIns="0" rIns="0" bIns="0" rtlCol="0" anchor="ctr"/>
          <a:lstStyle/>
          <a:p>
            <a:pPr algn="ctr" indent="0" marL="0">
              <a:buNone/>
            </a:pPr>
            <a:r>
              <a:rPr lang="en-US" sz="1300" b="1" dirty="0">
                <a:solidFill>
                  <a:schemeClr val="tx2"/>
                </a:solidFill>
              </a:rPr>
              <a:t>Prathap Reddy</a:t>
            </a:r>
            <a:endParaRPr lang="en-US" sz="1300" dirty="0"/>
          </a:p>
        </p:txBody>
      </p:sp>
      <p:sp>
        <p:nvSpPr>
          <p:cNvPr id="8" name="Founder 2"/>
          <p:cNvSpPr/>
          <p:nvPr/>
        </p:nvSpPr>
        <p:spPr>
          <a:xfrm>
            <a:off x="2286000" y="4754880"/>
            <a:ext cx="1600200" cy="548640"/>
          </a:xfrm>
          <a:prstGeom prst="roundRect">
            <a:avLst>
              <a:gd name="adj" fmla="val 50000"/>
            </a:avLst>
          </a:prstGeom>
          <a:solidFill>
            <a:schemeClr val="bg2"/>
          </a:solidFill>
          <a:ln/>
        </p:spPr>
      </p:sp>
      <p:sp>
        <p:nvSpPr>
          <p:cNvPr id="9" name="Text 7"/>
          <p:cNvSpPr txBox="1"/>
          <p:nvPr/>
        </p:nvSpPr>
        <p:spPr>
          <a:xfrm>
            <a:off x="2286000" y="4754880"/>
            <a:ext cx="1600200" cy="548640"/>
          </a:xfrm>
          <a:prstGeom prst="rect">
            <a:avLst/>
          </a:prstGeom>
          <a:noFill/>
          <a:ln/>
        </p:spPr>
        <p:txBody>
          <a:bodyPr wrap="square" lIns="0" tIns="0" rIns="0" bIns="0" rtlCol="0" anchor="ctr"/>
          <a:lstStyle/>
          <a:p>
            <a:pPr algn="ctr" indent="0" marL="0">
              <a:buNone/>
            </a:pPr>
            <a:r>
              <a:rPr lang="en-US" sz="1300" b="1" dirty="0">
                <a:solidFill>
                  <a:schemeClr val="tx2"/>
                </a:solidFill>
              </a:rPr>
              <a:t>Divya Akula</a:t>
            </a:r>
            <a:endParaRPr lang="en-US" sz="1300" dirty="0"/>
          </a:p>
        </p:txBody>
      </p:sp>
      <p:sp>
        <p:nvSpPr>
          <p:cNvPr id="10" name="Founder 3"/>
          <p:cNvSpPr/>
          <p:nvPr/>
        </p:nvSpPr>
        <p:spPr>
          <a:xfrm>
            <a:off x="4023360" y="4754880"/>
            <a:ext cx="1600200" cy="548640"/>
          </a:xfrm>
          <a:prstGeom prst="roundRect">
            <a:avLst>
              <a:gd name="adj" fmla="val 50000"/>
            </a:avLst>
          </a:prstGeom>
          <a:solidFill>
            <a:schemeClr val="bg2"/>
          </a:solidFill>
          <a:ln/>
        </p:spPr>
      </p:sp>
      <p:sp>
        <p:nvSpPr>
          <p:cNvPr id="11" name="Text 9"/>
          <p:cNvSpPr txBox="1"/>
          <p:nvPr/>
        </p:nvSpPr>
        <p:spPr>
          <a:xfrm>
            <a:off x="4023360" y="4754880"/>
            <a:ext cx="1600200" cy="548640"/>
          </a:xfrm>
          <a:prstGeom prst="rect">
            <a:avLst/>
          </a:prstGeom>
          <a:noFill/>
          <a:ln/>
        </p:spPr>
        <p:txBody>
          <a:bodyPr wrap="square" lIns="0" tIns="0" rIns="0" bIns="0" rtlCol="0" anchor="ctr"/>
          <a:lstStyle/>
          <a:p>
            <a:pPr algn="ctr" indent="0" marL="0">
              <a:buNone/>
            </a:pPr>
            <a:r>
              <a:rPr lang="en-US" sz="1300" b="1" dirty="0">
                <a:solidFill>
                  <a:schemeClr val="tx2"/>
                </a:solidFill>
              </a:rPr>
              <a:t>Sujith Sukumaran</a:t>
            </a:r>
            <a:endParaRPr lang="en-US" sz="1300" dirty="0"/>
          </a:p>
        </p:txBody>
      </p:sp>
      <p:sp>
        <p:nvSpPr>
          <p:cNvPr id="12" name="Founder 4"/>
          <p:cNvSpPr/>
          <p:nvPr/>
        </p:nvSpPr>
        <p:spPr>
          <a:xfrm>
            <a:off x="5760720" y="4754880"/>
            <a:ext cx="1600200" cy="548640"/>
          </a:xfrm>
          <a:prstGeom prst="roundRect">
            <a:avLst>
              <a:gd name="adj" fmla="val 50000"/>
            </a:avLst>
          </a:prstGeom>
          <a:solidFill>
            <a:schemeClr val="bg2"/>
          </a:solidFill>
          <a:ln/>
        </p:spPr>
      </p:sp>
      <p:sp>
        <p:nvSpPr>
          <p:cNvPr id="13" name="Text 11"/>
          <p:cNvSpPr txBox="1"/>
          <p:nvPr/>
        </p:nvSpPr>
        <p:spPr>
          <a:xfrm>
            <a:off x="5760720" y="4754880"/>
            <a:ext cx="1600200" cy="548640"/>
          </a:xfrm>
          <a:prstGeom prst="rect">
            <a:avLst/>
          </a:prstGeom>
          <a:noFill/>
          <a:ln/>
        </p:spPr>
        <p:txBody>
          <a:bodyPr wrap="square" lIns="0" tIns="0" rIns="0" bIns="0" rtlCol="0" anchor="ctr"/>
          <a:lstStyle/>
          <a:p>
            <a:pPr algn="ctr" indent="0" marL="0">
              <a:buNone/>
            </a:pPr>
            <a:r>
              <a:rPr lang="en-US" sz="1300" b="1" dirty="0">
                <a:solidFill>
                  <a:schemeClr val="tx2"/>
                </a:solidFill>
              </a:rPr>
              <a:t>Lingaraj Benni</a:t>
            </a:r>
            <a:endParaRPr lang="en-US" sz="1300" dirty="0"/>
          </a:p>
        </p:txBody>
      </p:sp>
      <p:pic>
        <p:nvPicPr>
          <p:cNvPr id="14" name="ITC Cat mascot" descr="/Users/prathapreddy/agentic-ai-summit-2026/tools/.cache/assets/cat-wave.png">    </p:cNvPr>
          <p:cNvPicPr>
            <a:picLocks noChangeAspect="1"/>
          </p:cNvPicPr>
          <p:nvPr/>
        </p:nvPicPr>
        <p:blipFill>
          <a:blip r:embed="rId1"/>
          <a:stretch>
            <a:fillRect/>
          </a:stretch>
        </p:blipFill>
        <p:spPr>
          <a:xfrm>
            <a:off x="8138160" y="1280160"/>
            <a:ext cx="3474720" cy="3474720"/>
          </a:xfrm>
          <a:prstGeom prst="rect">
            <a:avLst/>
          </a:prstGeom>
        </p:spPr>
      </p:pic>
      <p:sp>
        <p:nvSpPr>
          <p:cNvPr id="15" name="Text 12"/>
          <p:cNvSpPr txBox="1"/>
          <p:nvPr/>
        </p:nvSpPr>
        <p:spPr>
          <a:xfrm>
            <a:off x="7863840" y="4892040"/>
            <a:ext cx="4023360" cy="457200"/>
          </a:xfrm>
          <a:prstGeom prst="rect">
            <a:avLst/>
          </a:prstGeom>
          <a:noFill/>
          <a:ln/>
        </p:spPr>
        <p:txBody>
          <a:bodyPr wrap="square" lIns="0" tIns="0" rIns="0" bIns="0" rtlCol="0" anchor="ctr"/>
          <a:lstStyle/>
          <a:p>
            <a:pPr algn="ctr" indent="0" marL="0">
              <a:buNone/>
            </a:pPr>
            <a:r>
              <a:rPr lang="en-US" sz="1400" dirty="0">
                <a:solidFill>
                  <a:schemeClr val="accent5"/>
                </a:solidFill>
              </a:rPr>
              <a:t>Say hi to ITC Cat, our mascot! 🐾</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0058400" cy="777240"/>
          </a:xfrm>
          <a:prstGeom prst="rect">
            <a:avLst/>
          </a:prstGeom>
          <a:noFill/>
          <a:ln/>
        </p:spPr>
        <p:txBody>
          <a:bodyPr wrap="square" lIns="0" tIns="0" rIns="0" bIns="0" rtlCol="0" anchor="ctr"/>
          <a:lstStyle/>
          <a:p>
            <a:pPr algn="l" indent="0" marL="0">
              <a:buNone/>
            </a:pPr>
            <a:r>
              <a:rPr lang="en-US" sz="3200" b="1" dirty="0">
                <a:solidFill>
                  <a:schemeClr val="tx2"/>
                </a:solidFill>
              </a:rPr>
              <a:t>Today at a glance</a:t>
            </a:r>
            <a:endParaRPr lang="en-US" sz="3200" dirty="0"/>
          </a:p>
        </p:txBody>
      </p:sp>
      <p:sp>
        <p:nvSpPr>
          <p:cNvPr id="3" name="Stat 1"/>
          <p:cNvSpPr/>
          <p:nvPr/>
        </p:nvSpPr>
        <p:spPr>
          <a:xfrm>
            <a:off x="548640" y="1828800"/>
            <a:ext cx="2606040" cy="2926080"/>
          </a:xfrm>
          <a:prstGeom prst="roundRect">
            <a:avLst>
              <a:gd name="adj" fmla="val 5263"/>
            </a:avLst>
          </a:prstGeom>
          <a:solidFill>
            <a:schemeClr val="bg2"/>
          </a:solidFill>
          <a:ln/>
        </p:spPr>
      </p:sp>
      <p:sp>
        <p:nvSpPr>
          <p:cNvPr id="4" name="Text 2"/>
          <p:cNvSpPr txBox="1"/>
          <p:nvPr/>
        </p:nvSpPr>
        <p:spPr>
          <a:xfrm>
            <a:off x="548640" y="2240280"/>
            <a:ext cx="2606040" cy="1280160"/>
          </a:xfrm>
          <a:prstGeom prst="rect">
            <a:avLst/>
          </a:prstGeom>
          <a:noFill/>
          <a:ln/>
        </p:spPr>
        <p:txBody>
          <a:bodyPr wrap="square" lIns="0" tIns="0" rIns="0" bIns="0" rtlCol="0" anchor="ctr"/>
          <a:lstStyle/>
          <a:p>
            <a:pPr algn="ctr" indent="0" marL="0">
              <a:buNone/>
            </a:pPr>
            <a:r>
              <a:rPr lang="en-US" sz="7200" b="1" dirty="0">
                <a:solidFill>
                  <a:schemeClr val="accent1"/>
                </a:solidFill>
                <a:latin typeface="Arial" pitchFamily="34" charset="0"/>
                <a:ea typeface="Arial" pitchFamily="34" charset="-122"/>
                <a:cs typeface="Arial" pitchFamily="34" charset="-120"/>
              </a:rPr>
              <a:t>12</a:t>
            </a:r>
            <a:endParaRPr lang="en-US" sz="7200" dirty="0"/>
          </a:p>
        </p:txBody>
      </p:sp>
      <p:sp>
        <p:nvSpPr>
          <p:cNvPr id="5" name="Text 3"/>
          <p:cNvSpPr txBox="1"/>
          <p:nvPr/>
        </p:nvSpPr>
        <p:spPr>
          <a:xfrm>
            <a:off x="548640" y="3611880"/>
            <a:ext cx="2606040" cy="548640"/>
          </a:xfrm>
          <a:prstGeom prst="rect">
            <a:avLst/>
          </a:prstGeom>
          <a:noFill/>
          <a:ln/>
        </p:spPr>
        <p:txBody>
          <a:bodyPr wrap="square" lIns="0" tIns="0" rIns="0" bIns="0" rtlCol="0" anchor="ctr"/>
          <a:lstStyle/>
          <a:p>
            <a:pPr algn="ctr" indent="0" marL="0">
              <a:buNone/>
            </a:pPr>
            <a:r>
              <a:rPr lang="en-US" sz="1800" dirty="0">
                <a:solidFill>
                  <a:schemeClr val="tx1"/>
                </a:solidFill>
              </a:rPr>
              <a:t>sessions</a:t>
            </a:r>
            <a:endParaRPr lang="en-US" sz="1800" dirty="0"/>
          </a:p>
        </p:txBody>
      </p:sp>
      <p:sp>
        <p:nvSpPr>
          <p:cNvPr id="6" name="Stat 2"/>
          <p:cNvSpPr/>
          <p:nvPr/>
        </p:nvSpPr>
        <p:spPr>
          <a:xfrm>
            <a:off x="3364992" y="1828800"/>
            <a:ext cx="2606040" cy="2926080"/>
          </a:xfrm>
          <a:prstGeom prst="roundRect">
            <a:avLst>
              <a:gd name="adj" fmla="val 5263"/>
            </a:avLst>
          </a:prstGeom>
          <a:solidFill>
            <a:schemeClr val="bg2"/>
          </a:solidFill>
          <a:ln/>
        </p:spPr>
      </p:sp>
      <p:sp>
        <p:nvSpPr>
          <p:cNvPr id="7" name="Text 5"/>
          <p:cNvSpPr txBox="1"/>
          <p:nvPr/>
        </p:nvSpPr>
        <p:spPr>
          <a:xfrm>
            <a:off x="3364992" y="2240280"/>
            <a:ext cx="2606040" cy="1280160"/>
          </a:xfrm>
          <a:prstGeom prst="rect">
            <a:avLst/>
          </a:prstGeom>
          <a:noFill/>
          <a:ln/>
        </p:spPr>
        <p:txBody>
          <a:bodyPr wrap="square" lIns="0" tIns="0" rIns="0" bIns="0" rtlCol="0" anchor="ctr"/>
          <a:lstStyle/>
          <a:p>
            <a:pPr algn="ctr" indent="0" marL="0">
              <a:buNone/>
            </a:pPr>
            <a:r>
              <a:rPr lang="en-US" sz="7200" b="1" dirty="0">
                <a:solidFill>
                  <a:schemeClr val="accent2"/>
                </a:solidFill>
                <a:latin typeface="Arial" pitchFamily="34" charset="0"/>
                <a:ea typeface="Arial" pitchFamily="34" charset="-122"/>
                <a:cs typeface="Arial" pitchFamily="34" charset="-120"/>
              </a:rPr>
              <a:t>13</a:t>
            </a:r>
            <a:endParaRPr lang="en-US" sz="7200" dirty="0"/>
          </a:p>
        </p:txBody>
      </p:sp>
      <p:sp>
        <p:nvSpPr>
          <p:cNvPr id="8" name="Text 6"/>
          <p:cNvSpPr txBox="1"/>
          <p:nvPr/>
        </p:nvSpPr>
        <p:spPr>
          <a:xfrm>
            <a:off x="3364992" y="3611880"/>
            <a:ext cx="2606040" cy="548640"/>
          </a:xfrm>
          <a:prstGeom prst="rect">
            <a:avLst/>
          </a:prstGeom>
          <a:noFill/>
          <a:ln/>
        </p:spPr>
        <p:txBody>
          <a:bodyPr wrap="square" lIns="0" tIns="0" rIns="0" bIns="0" rtlCol="0" anchor="ctr"/>
          <a:lstStyle/>
          <a:p>
            <a:pPr algn="ctr" indent="0" marL="0">
              <a:buNone/>
            </a:pPr>
            <a:r>
              <a:rPr lang="en-US" sz="1800" dirty="0">
                <a:solidFill>
                  <a:schemeClr val="tx1"/>
                </a:solidFill>
              </a:rPr>
              <a:t>speakers</a:t>
            </a:r>
            <a:endParaRPr lang="en-US" sz="1800" dirty="0"/>
          </a:p>
        </p:txBody>
      </p:sp>
      <p:sp>
        <p:nvSpPr>
          <p:cNvPr id="9" name="Stat 3"/>
          <p:cNvSpPr/>
          <p:nvPr/>
        </p:nvSpPr>
        <p:spPr>
          <a:xfrm>
            <a:off x="6181344" y="1828800"/>
            <a:ext cx="2606040" cy="2926080"/>
          </a:xfrm>
          <a:prstGeom prst="roundRect">
            <a:avLst>
              <a:gd name="adj" fmla="val 5263"/>
            </a:avLst>
          </a:prstGeom>
          <a:solidFill>
            <a:schemeClr val="bg2"/>
          </a:solidFill>
          <a:ln/>
        </p:spPr>
      </p:sp>
      <p:sp>
        <p:nvSpPr>
          <p:cNvPr id="10" name="Text 8"/>
          <p:cNvSpPr txBox="1"/>
          <p:nvPr/>
        </p:nvSpPr>
        <p:spPr>
          <a:xfrm>
            <a:off x="6181344" y="2240280"/>
            <a:ext cx="2606040" cy="1280160"/>
          </a:xfrm>
          <a:prstGeom prst="rect">
            <a:avLst/>
          </a:prstGeom>
          <a:noFill/>
          <a:ln/>
        </p:spPr>
        <p:txBody>
          <a:bodyPr wrap="square" lIns="0" tIns="0" rIns="0" bIns="0" rtlCol="0" anchor="ctr"/>
          <a:lstStyle/>
          <a:p>
            <a:pPr algn="ctr" indent="0" marL="0">
              <a:buNone/>
            </a:pPr>
            <a:r>
              <a:rPr lang="en-US" sz="7200" b="1" dirty="0">
                <a:solidFill>
                  <a:schemeClr val="accent3"/>
                </a:solidFill>
                <a:latin typeface="Arial" pitchFamily="34" charset="0"/>
                <a:ea typeface="Arial" pitchFamily="34" charset="-122"/>
                <a:cs typeface="Arial" pitchFamily="34" charset="-120"/>
              </a:rPr>
              <a:t>11</a:t>
            </a:r>
            <a:endParaRPr lang="en-US" sz="7200" dirty="0"/>
          </a:p>
        </p:txBody>
      </p:sp>
      <p:sp>
        <p:nvSpPr>
          <p:cNvPr id="11" name="Text 9"/>
          <p:cNvSpPr txBox="1"/>
          <p:nvPr/>
        </p:nvSpPr>
        <p:spPr>
          <a:xfrm>
            <a:off x="6181344" y="3611880"/>
            <a:ext cx="2606040" cy="548640"/>
          </a:xfrm>
          <a:prstGeom prst="rect">
            <a:avLst/>
          </a:prstGeom>
          <a:noFill/>
          <a:ln/>
        </p:spPr>
        <p:txBody>
          <a:bodyPr wrap="square" lIns="0" tIns="0" rIns="0" bIns="0" rtlCol="0" anchor="ctr"/>
          <a:lstStyle/>
          <a:p>
            <a:pPr algn="ctr" indent="0" marL="0">
              <a:buNone/>
            </a:pPr>
            <a:r>
              <a:rPr lang="en-US" sz="1800" dirty="0">
                <a:solidFill>
                  <a:schemeClr val="tx1"/>
                </a:solidFill>
              </a:rPr>
              <a:t>Microsoft MVPs</a:t>
            </a:r>
            <a:endParaRPr lang="en-US" sz="1800" dirty="0"/>
          </a:p>
        </p:txBody>
      </p:sp>
      <p:sp>
        <p:nvSpPr>
          <p:cNvPr id="12" name="Stat 4"/>
          <p:cNvSpPr/>
          <p:nvPr/>
        </p:nvSpPr>
        <p:spPr>
          <a:xfrm>
            <a:off x="8997696" y="1828800"/>
            <a:ext cx="2606040" cy="2926080"/>
          </a:xfrm>
          <a:prstGeom prst="roundRect">
            <a:avLst>
              <a:gd name="adj" fmla="val 5263"/>
            </a:avLst>
          </a:prstGeom>
          <a:solidFill>
            <a:schemeClr val="bg2"/>
          </a:solidFill>
          <a:ln/>
        </p:spPr>
      </p:sp>
      <p:sp>
        <p:nvSpPr>
          <p:cNvPr id="13" name="Text 11"/>
          <p:cNvSpPr txBox="1"/>
          <p:nvPr/>
        </p:nvSpPr>
        <p:spPr>
          <a:xfrm>
            <a:off x="8997696" y="2240280"/>
            <a:ext cx="2606040" cy="1280160"/>
          </a:xfrm>
          <a:prstGeom prst="rect">
            <a:avLst/>
          </a:prstGeom>
          <a:noFill/>
          <a:ln/>
        </p:spPr>
        <p:txBody>
          <a:bodyPr wrap="square" lIns="0" tIns="0" rIns="0" bIns="0" rtlCol="0" anchor="ctr"/>
          <a:lstStyle/>
          <a:p>
            <a:pPr algn="ctr" indent="0" marL="0">
              <a:buNone/>
            </a:pPr>
            <a:r>
              <a:rPr lang="en-US" sz="7200" b="1" dirty="0">
                <a:solidFill>
                  <a:schemeClr val="accent4"/>
                </a:solidFill>
                <a:latin typeface="Arial" pitchFamily="34" charset="0"/>
                <a:ea typeface="Arial" pitchFamily="34" charset="-122"/>
                <a:cs typeface="Arial" pitchFamily="34" charset="-120"/>
              </a:rPr>
              <a:t>1</a:t>
            </a:r>
            <a:endParaRPr lang="en-US" sz="7200" dirty="0"/>
          </a:p>
        </p:txBody>
      </p:sp>
      <p:sp>
        <p:nvSpPr>
          <p:cNvPr id="14" name="Text 12"/>
          <p:cNvSpPr txBox="1"/>
          <p:nvPr/>
        </p:nvSpPr>
        <p:spPr>
          <a:xfrm>
            <a:off x="8997696" y="3611880"/>
            <a:ext cx="2606040" cy="548640"/>
          </a:xfrm>
          <a:prstGeom prst="rect">
            <a:avLst/>
          </a:prstGeom>
          <a:noFill/>
          <a:ln/>
        </p:spPr>
        <p:txBody>
          <a:bodyPr wrap="square" lIns="0" tIns="0" rIns="0" bIns="0" rtlCol="0" anchor="ctr"/>
          <a:lstStyle/>
          <a:p>
            <a:pPr algn="ctr" indent="0" marL="0">
              <a:buNone/>
            </a:pPr>
            <a:r>
              <a:rPr lang="en-US" sz="1800" dirty="0">
                <a:solidFill>
                  <a:schemeClr val="tx1"/>
                </a:solidFill>
              </a:rPr>
              <a:t>day of Agentic AI</a:t>
            </a:r>
            <a:endParaRPr lang="en-US" sz="1800" dirty="0"/>
          </a:p>
        </p:txBody>
      </p:sp>
      <p:sp>
        <p:nvSpPr>
          <p:cNvPr id="15" name="Text 13"/>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1600" dirty="0">
                <a:solidFill>
                  <a:schemeClr val="accent5"/>
                </a:solidFill>
              </a:rPr>
              <a:t>Talks, live demos and hands-on patterns across Microsoft Foundry, Copilot Studio, MCP, RAG, security and multi-agent systems.</a:t>
            </a:r>
            <a:endParaRPr lang="en-US" sz="16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0058400" cy="777240"/>
          </a:xfrm>
          <a:prstGeom prst="rect">
            <a:avLst/>
          </a:prstGeom>
          <a:noFill/>
          <a:ln/>
        </p:spPr>
        <p:txBody>
          <a:bodyPr wrap="square" lIns="0" tIns="0" rIns="0" bIns="0" rtlCol="0" anchor="ctr"/>
          <a:lstStyle/>
          <a:p>
            <a:pPr algn="l" indent="0" marL="0">
              <a:buNone/>
            </a:pPr>
            <a:r>
              <a:rPr lang="en-US" sz="3200" b="1" dirty="0">
                <a:solidFill>
                  <a:schemeClr val="tx2"/>
                </a:solidFill>
              </a:rPr>
              <a:t>Agenda  ·  All times IST</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920240"/>
                <a:gridCol w="3017520"/>
                <a:gridCol w="6126480"/>
              </a:tblGrid>
              <a:tr h="329184">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Speaker</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Session</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tx2"/>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9:00 AM – 9:45 AM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Nanddeep Nachan &amp; Smita Nachan</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Build a Secure Multi-Tool AI Agent with Microsoft Foundry, APIs, and MCP</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9:45 AM – 10:20 AM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Divya Akula</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Build Your First AI Assistant: From Idea to Working Demo</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10:20 AM – 10:55 AM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Prathap Reddy</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From Copilots to Autonomous Agents: Building Agentic AI with Microsoft Foundry</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10:55 AM – 11:30 AM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Frank Falvey</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Microsoft Agentic AI: Framework Overview &amp; Live Agent Demos</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11:30 AM – 12:05 PM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Vinoth Rajendran</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From Idea to Agent: Building with Microsoft Agent Framework</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12:05 PM – 12:40 PM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Ashutosh Singh</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Building SnowPilot: Agentic AI in Action with Copilot Studio</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12:40 PM – 1:15 PM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Sujin Nelladath</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AI-Powered IT Operations: Troubleshooting Smarter with MCP and Microsoft Learn</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1:15 PM – 1:50 PM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Kritika Mehta</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The Zero-Handoff ERP: Architecting a Multi-Agent Workforce</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1:50 PM – 2:25 PM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Shantha Kumar T</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Building with Confidence: Inside Microsoft’s Copilot Managed Runtime</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2:25 PM – 3:00 PM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Janarthanan Selvaraj</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Agents of Tomorrow: Building the Next Generation of AI with Microsoft Foundry</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3:00 PM – 3:35 PM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Samik Roy</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More Than Prompt Safety and IAM : Design Policy-as-Code for Deterministic Multi-Agent AI Workflows</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2"/>
                    </a:solidFill>
                  </a:tcPr>
                </a:tc>
              </a:tr>
              <a:tr h="329184">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3:35 PM – 4:10 PM</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Lalit Rawat</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From AI PoC Chaos to Production: Building a Secure Enterprise AI Landing Zone on Azure</a:t>
                      </a:r>
                      <a:endParaRPr lang="en-US" sz="1100" dirty="0">
                        <a:latin typeface="Calibri" charset="0"/>
                        <a:ea typeface="Calibri" charset="0"/>
                        <a:cs typeface="Calibri" charset="0"/>
                      </a:endParaRPr>
                    </a:p>
                  </a:txBody>
                  <a:tcPr marL="91440" marR="91440" marT="18288" marB="18288" anchor="ctr">
                    <a:lnL w="6350" cap="flat" cmpd="sng" algn="ctr">
                      <a:solidFill>
                        <a:srgbClr val="E4E0F7"/>
                      </a:solidFill>
                      <a:prstDash val="solid"/>
                      <a:round/>
                      <a:headEnd type="none" w="med" len="med"/>
                      <a:tailEnd type="none" w="med" len="med"/>
                    </a:lnL>
                    <a:lnR w="6350" cap="flat" cmpd="sng" algn="ctr">
                      <a:solidFill>
                        <a:srgbClr val="E4E0F7"/>
                      </a:solidFill>
                      <a:prstDash val="solid"/>
                      <a:round/>
                      <a:headEnd type="none" w="med" len="med"/>
                      <a:tailEnd type="none" w="med" len="med"/>
                    </a:lnR>
                    <a:lnT w="6350" cap="flat" cmpd="sng" algn="ctr">
                      <a:solidFill>
                        <a:srgbClr val="E4E0F7"/>
                      </a:solidFill>
                      <a:prstDash val="solid"/>
                      <a:round/>
                      <a:headEnd type="none" w="med" len="med"/>
                      <a:tailEnd type="none" w="med" len="med"/>
                    </a:lnT>
                    <a:lnB w="6350" cap="flat" cmpd="sng" algn="ctr">
                      <a:solidFill>
                        <a:srgbClr val="E4E0F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Nanddeep Nachan photo" descr="/Users/prathapreddy/agentic-ai-summit-2026/tools/.cache/img/ph-nanddeep-nachan.png">    </p:cNvPr>
          <p:cNvPicPr>
            <a:picLocks noChangeAspect="1"/>
          </p:cNvPicPr>
          <p:nvPr/>
        </p:nvPicPr>
        <p:blipFill>
          <a:blip r:embed="rId1"/>
          <a:stretch>
            <a:fillRect/>
          </a:stretch>
        </p:blipFill>
        <p:spPr>
          <a:xfrm>
            <a:off x="502920" y="914400"/>
            <a:ext cx="2514600" cy="2514600"/>
          </a:xfrm>
          <a:prstGeom prst="rect">
            <a:avLst/>
          </a:prstGeom>
        </p:spPr>
      </p:pic>
      <p:pic>
        <p:nvPicPr>
          <p:cNvPr id="3" name="Smita Nachan photo" descr="/Users/prathapreddy/agentic-ai-summit-2026/tools/.cache/img/ph-smita-nachan.png">    </p:cNvPr>
          <p:cNvPicPr>
            <a:picLocks noChangeAspect="1"/>
          </p:cNvPicPr>
          <p:nvPr/>
        </p:nvPicPr>
        <p:blipFill>
          <a:blip r:embed="rId2"/>
          <a:stretch>
            <a:fillRect/>
          </a:stretch>
        </p:blipFill>
        <p:spPr>
          <a:xfrm>
            <a:off x="1783080" y="3246120"/>
            <a:ext cx="2514600" cy="2514600"/>
          </a:xfrm>
          <a:prstGeom prst="rect">
            <a:avLst/>
          </a:prstGeom>
        </p:spPr>
      </p:pic>
      <p:sp>
        <p:nvSpPr>
          <p:cNvPr id="4"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9:00 AM – 9:45 AM IST</a:t>
            </a:r>
            <a:endParaRPr lang="en-US" sz="1400" dirty="0"/>
          </a:p>
        </p:txBody>
      </p:sp>
      <p:sp>
        <p:nvSpPr>
          <p:cNvPr id="5"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000" b="1" dirty="0">
                <a:solidFill>
                  <a:schemeClr val="tx1"/>
                </a:solidFill>
                <a:latin typeface="Arial" pitchFamily="34" charset="0"/>
                <a:ea typeface="Arial" pitchFamily="34" charset="-122"/>
                <a:cs typeface="Arial" pitchFamily="34" charset="-120"/>
              </a:rPr>
              <a:t>Nanddeep Nachan &amp; Smita Nachan</a:t>
            </a:r>
            <a:endParaRPr lang="en-US" sz="3000" dirty="0"/>
          </a:p>
        </p:txBody>
      </p:sp>
      <p:sp>
        <p:nvSpPr>
          <p:cNvPr id="6" name="Text 2"/>
          <p:cNvSpPr txBox="1"/>
          <p:nvPr/>
        </p:nvSpPr>
        <p:spPr>
          <a:xfrm>
            <a:off x="4800600" y="1664208"/>
            <a:ext cx="6858000" cy="640080"/>
          </a:xfrm>
          <a:prstGeom prst="rect">
            <a:avLst/>
          </a:prstGeom>
          <a:noFill/>
          <a:ln/>
        </p:spPr>
        <p:txBody>
          <a:bodyPr wrap="square" lIns="0" tIns="0" rIns="0" bIns="0" rtlCol="0" anchor="t"/>
          <a:lstStyle/>
          <a:p>
            <a:pPr indent="0" marL="0">
              <a:buNone/>
            </a:pPr>
            <a:r>
              <a:rPr lang="en-US" sz="1500" dirty="0">
                <a:solidFill>
                  <a:schemeClr val="accent5"/>
                </a:solidFill>
              </a:rPr>
              <a:t>Microsoft MVP · Microsoft Certified Trainer</a:t>
            </a:r>
            <a:endParaRPr lang="en-US" sz="1500" dirty="0"/>
          </a:p>
          <a:p>
            <a:pPr indent="0" marL="0">
              <a:buNone/>
            </a:pPr>
            <a:r>
              <a:rPr lang="en-US" sz="1500" dirty="0">
                <a:solidFill>
                  <a:schemeClr val="accent5"/>
                </a:solidFill>
              </a:rPr>
              <a:t>M365 Architect · Microsoft MVP (M365 &amp; AI Platform)</a:t>
            </a:r>
            <a:endParaRPr lang="en-US" sz="1500" dirty="0"/>
          </a:p>
        </p:txBody>
      </p:sp>
      <p:sp>
        <p:nvSpPr>
          <p:cNvPr id="7" name="Chip Microsoft MVP"/>
          <p:cNvSpPr/>
          <p:nvPr/>
        </p:nvSpPr>
        <p:spPr>
          <a:xfrm>
            <a:off x="4800600" y="2395728"/>
            <a:ext cx="1568196" cy="347472"/>
          </a:xfrm>
          <a:prstGeom prst="roundRect">
            <a:avLst>
              <a:gd name="adj" fmla="val 50000"/>
            </a:avLst>
          </a:prstGeom>
          <a:solidFill>
            <a:schemeClr val="accent2"/>
          </a:solidFill>
          <a:ln/>
        </p:spPr>
      </p:sp>
      <p:sp>
        <p:nvSpPr>
          <p:cNvPr id="8" name="Text 4"/>
          <p:cNvSpPr txBox="1"/>
          <p:nvPr/>
        </p:nvSpPr>
        <p:spPr>
          <a:xfrm>
            <a:off x="4800600" y="2395728"/>
            <a:ext cx="1568196"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MVP</a:t>
            </a:r>
            <a:endParaRPr lang="en-US" sz="1200" dirty="0"/>
          </a:p>
        </p:txBody>
      </p:sp>
      <p:sp>
        <p:nvSpPr>
          <p:cNvPr id="9" name="Chip MCT"/>
          <p:cNvSpPr/>
          <p:nvPr/>
        </p:nvSpPr>
        <p:spPr>
          <a:xfrm>
            <a:off x="6505956" y="2395728"/>
            <a:ext cx="608076" cy="347472"/>
          </a:xfrm>
          <a:prstGeom prst="roundRect">
            <a:avLst>
              <a:gd name="adj" fmla="val 50000"/>
            </a:avLst>
          </a:prstGeom>
          <a:solidFill>
            <a:schemeClr val="accent2"/>
          </a:solidFill>
          <a:ln/>
        </p:spPr>
      </p:sp>
      <p:sp>
        <p:nvSpPr>
          <p:cNvPr id="10" name="Text 6"/>
          <p:cNvSpPr txBox="1"/>
          <p:nvPr/>
        </p:nvSpPr>
        <p:spPr>
          <a:xfrm>
            <a:off x="6505956" y="2395728"/>
            <a:ext cx="608076" cy="347472"/>
          </a:xfrm>
          <a:prstGeom prst="rect">
            <a:avLst/>
          </a:prstGeom>
          <a:noFill/>
          <a:ln/>
        </p:spPr>
        <p:txBody>
          <a:bodyPr wrap="square" lIns="0" tIns="0" rIns="0" bIns="0" rtlCol="0" anchor="ctr"/>
          <a:lstStyle/>
          <a:p>
            <a:pPr algn="ctr" indent="0" marL="0">
              <a:buNone/>
            </a:pPr>
            <a:r>
              <a:rPr lang="en-US" sz="1200" b="1" dirty="0">
                <a:solidFill>
                  <a:schemeClr val="bg1"/>
                </a:solidFill>
              </a:rPr>
              <a:t>MCT</a:t>
            </a:r>
            <a:endParaRPr lang="en-US" sz="1200" dirty="0"/>
          </a:p>
        </p:txBody>
      </p:sp>
      <p:sp>
        <p:nvSpPr>
          <p:cNvPr id="11" name="Chip Author"/>
          <p:cNvSpPr/>
          <p:nvPr/>
        </p:nvSpPr>
        <p:spPr>
          <a:xfrm>
            <a:off x="7251192" y="2395728"/>
            <a:ext cx="896112" cy="347472"/>
          </a:xfrm>
          <a:prstGeom prst="roundRect">
            <a:avLst>
              <a:gd name="adj" fmla="val 50000"/>
            </a:avLst>
          </a:prstGeom>
          <a:solidFill>
            <a:schemeClr val="accent2"/>
          </a:solidFill>
          <a:ln/>
        </p:spPr>
      </p:sp>
      <p:sp>
        <p:nvSpPr>
          <p:cNvPr id="12" name="Text 8"/>
          <p:cNvSpPr txBox="1"/>
          <p:nvPr/>
        </p:nvSpPr>
        <p:spPr>
          <a:xfrm>
            <a:off x="7251192" y="2395728"/>
            <a:ext cx="896112" cy="347472"/>
          </a:xfrm>
          <a:prstGeom prst="rect">
            <a:avLst/>
          </a:prstGeom>
          <a:noFill/>
          <a:ln/>
        </p:spPr>
        <p:txBody>
          <a:bodyPr wrap="square" lIns="0" tIns="0" rIns="0" bIns="0" rtlCol="0" anchor="ctr"/>
          <a:lstStyle/>
          <a:p>
            <a:pPr algn="ctr" indent="0" marL="0">
              <a:buNone/>
            </a:pPr>
            <a:r>
              <a:rPr lang="en-US" sz="1200" b="1" dirty="0">
                <a:solidFill>
                  <a:schemeClr val="bg1"/>
                </a:solidFill>
              </a:rPr>
              <a:t>Author</a:t>
            </a:r>
            <a:endParaRPr lang="en-US" sz="1200" dirty="0"/>
          </a:p>
        </p:txBody>
      </p:sp>
      <p:sp>
        <p:nvSpPr>
          <p:cNvPr id="13" name="Chip Microsoft MVP ×2"/>
          <p:cNvSpPr/>
          <p:nvPr/>
        </p:nvSpPr>
        <p:spPr>
          <a:xfrm>
            <a:off x="8284464" y="2395728"/>
            <a:ext cx="1856232" cy="347472"/>
          </a:xfrm>
          <a:prstGeom prst="roundRect">
            <a:avLst>
              <a:gd name="adj" fmla="val 50000"/>
            </a:avLst>
          </a:prstGeom>
          <a:solidFill>
            <a:schemeClr val="accent2"/>
          </a:solidFill>
          <a:ln/>
        </p:spPr>
      </p:sp>
      <p:sp>
        <p:nvSpPr>
          <p:cNvPr id="14" name="Text 10"/>
          <p:cNvSpPr txBox="1"/>
          <p:nvPr/>
        </p:nvSpPr>
        <p:spPr>
          <a:xfrm>
            <a:off x="8284464" y="2395728"/>
            <a:ext cx="1856232"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MVP ×2</a:t>
            </a:r>
            <a:endParaRPr lang="en-US" sz="1200" dirty="0"/>
          </a:p>
        </p:txBody>
      </p:sp>
      <p:sp>
        <p:nvSpPr>
          <p:cNvPr id="15" name="Chip CSM"/>
          <p:cNvSpPr/>
          <p:nvPr/>
        </p:nvSpPr>
        <p:spPr>
          <a:xfrm>
            <a:off x="10277856" y="2395728"/>
            <a:ext cx="608076" cy="347472"/>
          </a:xfrm>
          <a:prstGeom prst="roundRect">
            <a:avLst>
              <a:gd name="adj" fmla="val 50000"/>
            </a:avLst>
          </a:prstGeom>
          <a:solidFill>
            <a:schemeClr val="accent2"/>
          </a:solidFill>
          <a:ln/>
        </p:spPr>
      </p:sp>
      <p:sp>
        <p:nvSpPr>
          <p:cNvPr id="16" name="Text 12"/>
          <p:cNvSpPr txBox="1"/>
          <p:nvPr/>
        </p:nvSpPr>
        <p:spPr>
          <a:xfrm>
            <a:off x="10277856" y="2395728"/>
            <a:ext cx="608076" cy="347472"/>
          </a:xfrm>
          <a:prstGeom prst="rect">
            <a:avLst/>
          </a:prstGeom>
          <a:noFill/>
          <a:ln/>
        </p:spPr>
        <p:txBody>
          <a:bodyPr wrap="square" lIns="0" tIns="0" rIns="0" bIns="0" rtlCol="0" anchor="ctr"/>
          <a:lstStyle/>
          <a:p>
            <a:pPr algn="ctr" indent="0" marL="0">
              <a:buNone/>
            </a:pPr>
            <a:r>
              <a:rPr lang="en-US" sz="1200" b="1" dirty="0">
                <a:solidFill>
                  <a:schemeClr val="bg1"/>
                </a:solidFill>
              </a:rPr>
              <a:t>CSM</a:t>
            </a:r>
            <a:endParaRPr lang="en-US" sz="1200" dirty="0"/>
          </a:p>
        </p:txBody>
      </p:sp>
      <p:sp>
        <p:nvSpPr>
          <p:cNvPr id="17" name="Session card"/>
          <p:cNvSpPr/>
          <p:nvPr/>
        </p:nvSpPr>
        <p:spPr>
          <a:xfrm>
            <a:off x="4800600" y="2962656"/>
            <a:ext cx="6858000" cy="1691640"/>
          </a:xfrm>
          <a:prstGeom prst="roundRect">
            <a:avLst>
              <a:gd name="adj" fmla="val 6486"/>
            </a:avLst>
          </a:prstGeom>
          <a:solidFill>
            <a:schemeClr val="bg2"/>
          </a:solidFill>
          <a:ln/>
        </p:spPr>
      </p:sp>
      <p:pic>
        <p:nvPicPr>
          <p:cNvPr id="18" name="Session icon" descr="/Users/prathapreddy/agentic-ai-summit-2026/tools/.cache/img/ic-mic-v.png">    </p:cNvPr>
          <p:cNvPicPr>
            <a:picLocks noChangeAspect="1"/>
          </p:cNvPicPr>
          <p:nvPr/>
        </p:nvPicPr>
        <p:blipFill>
          <a:blip r:embed="rId3"/>
          <a:stretch>
            <a:fillRect/>
          </a:stretch>
        </p:blipFill>
        <p:spPr>
          <a:xfrm>
            <a:off x="5029200" y="3191256"/>
            <a:ext cx="292608" cy="292608"/>
          </a:xfrm>
          <a:prstGeom prst="rect">
            <a:avLst/>
          </a:prstGeom>
        </p:spPr>
      </p:pic>
      <p:sp>
        <p:nvSpPr>
          <p:cNvPr id="19" name="Text 14"/>
          <p:cNvSpPr txBox="1"/>
          <p:nvPr/>
        </p:nvSpPr>
        <p:spPr>
          <a:xfrm>
            <a:off x="5440680" y="3163824"/>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20" name="Text 15"/>
          <p:cNvSpPr txBox="1"/>
          <p:nvPr/>
        </p:nvSpPr>
        <p:spPr>
          <a:xfrm>
            <a:off x="5029200" y="3529584"/>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Build a Secure Multi-Tool AI Agent with Microsoft Foundry, APIs, and MCP</a:t>
            </a:r>
            <a:endParaRPr lang="en-US" sz="1800" dirty="0"/>
          </a:p>
        </p:txBody>
      </p:sp>
      <p:sp>
        <p:nvSpPr>
          <p:cNvPr id="21" name="Text 16"/>
          <p:cNvSpPr txBox="1"/>
          <p:nvPr/>
        </p:nvSpPr>
        <p:spPr>
          <a:xfrm>
            <a:off x="5029200" y="4261104"/>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Intermediate  ·  45 minutes</a:t>
            </a:r>
            <a:endParaRPr lang="en-US" sz="1300" dirty="0"/>
          </a:p>
        </p:txBody>
      </p:sp>
      <p:sp>
        <p:nvSpPr>
          <p:cNvPr id="22" name="Text 17"/>
          <p:cNvSpPr txBox="1"/>
          <p:nvPr/>
        </p:nvSpPr>
        <p:spPr>
          <a:xfrm>
            <a:off x="4800600" y="4882896"/>
            <a:ext cx="6858000" cy="124358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Nanddeep: author of Mastering SharePoint Framework (Amazon bestseller) and two Apress books</a:t>
            </a:r>
            <a:endParaRPr lang="en-US" sz="1400" dirty="0"/>
          </a:p>
          <a:p>
            <a:pPr marL="342900" indent="-342900">
              <a:spcAft>
                <a:spcPts val="600"/>
              </a:spcAft>
              <a:buSzPct val="100000"/>
              <a:buChar char="•"/>
            </a:pPr>
            <a:r>
              <a:rPr lang="en-US" sz="1400" dirty="0">
                <a:solidFill>
                  <a:schemeClr val="tx1"/>
                </a:solidFill>
              </a:rPr>
              <a:t>Nanddeep: Udemy courses on Microsoft 365 Copilot (AB-730) and SPFx</a:t>
            </a:r>
            <a:endParaRPr lang="en-US" sz="1400" dirty="0"/>
          </a:p>
          <a:p>
            <a:pPr marL="342900" indent="-342900">
              <a:spcAft>
                <a:spcPts val="600"/>
              </a:spcAft>
              <a:buSzPct val="100000"/>
              <a:buChar char="•"/>
            </a:pPr>
            <a:r>
              <a:rPr lang="en-US" sz="1400" dirty="0">
                <a:solidFill>
                  <a:schemeClr val="tx1"/>
                </a:solidFill>
              </a:rPr>
              <a:t>Smita: 17+ years building large-scale SharePoint and Microsoft 365 solutions</a:t>
            </a:r>
            <a:endParaRPr lang="en-US" sz="1400" dirty="0"/>
          </a:p>
          <a:p>
            <a:pPr marL="342900" indent="-342900">
              <a:spcAft>
                <a:spcPts val="600"/>
              </a:spcAft>
              <a:buSzPct val="100000"/>
              <a:buChar char="•"/>
            </a:pPr>
            <a:r>
              <a:rPr lang="en-US" sz="1400" dirty="0">
                <a:solidFill>
                  <a:schemeClr val="tx1"/>
                </a:solidFill>
              </a:rPr>
              <a:t>Smita: speaker at SharePoint Saturday and Global M365 and Power Platform Bootcamps</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Divya Akula photo" descr="/Users/prathapreddy/agentic-ai-summit-2026/tools/.cache/img/ph-divya-akula.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9:45 AM – 10:20 AM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Divya Akula</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AI MVP · Senior Technical Consultant, AI &amp; Microsoft Copilot Solutions</a:t>
            </a:r>
            <a:endParaRPr lang="en-US" sz="1500" dirty="0"/>
          </a:p>
        </p:txBody>
      </p:sp>
      <p:sp>
        <p:nvSpPr>
          <p:cNvPr id="6" name="Chip Microsoft AI MVP"/>
          <p:cNvSpPr/>
          <p:nvPr/>
        </p:nvSpPr>
        <p:spPr>
          <a:xfrm>
            <a:off x="4800600" y="2148840"/>
            <a:ext cx="1856232" cy="347472"/>
          </a:xfrm>
          <a:prstGeom prst="roundRect">
            <a:avLst>
              <a:gd name="adj" fmla="val 50000"/>
            </a:avLst>
          </a:prstGeom>
          <a:solidFill>
            <a:schemeClr val="accent2"/>
          </a:solidFill>
          <a:ln/>
        </p:spPr>
      </p:sp>
      <p:sp>
        <p:nvSpPr>
          <p:cNvPr id="7" name="Text 4"/>
          <p:cNvSpPr txBox="1"/>
          <p:nvPr/>
        </p:nvSpPr>
        <p:spPr>
          <a:xfrm>
            <a:off x="4800600" y="2148840"/>
            <a:ext cx="1856232"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AI MVP</a:t>
            </a:r>
            <a:endParaRPr lang="en-US" sz="1200" dirty="0"/>
          </a:p>
        </p:txBody>
      </p:sp>
      <p:sp>
        <p:nvSpPr>
          <p:cNvPr id="8" name="Chip ITC co-founder"/>
          <p:cNvSpPr/>
          <p:nvPr/>
        </p:nvSpPr>
        <p:spPr>
          <a:xfrm>
            <a:off x="6793992" y="2148840"/>
            <a:ext cx="1664208" cy="347472"/>
          </a:xfrm>
          <a:prstGeom prst="roundRect">
            <a:avLst>
              <a:gd name="adj" fmla="val 50000"/>
            </a:avLst>
          </a:prstGeom>
          <a:solidFill>
            <a:schemeClr val="accent2"/>
          </a:solidFill>
          <a:ln/>
        </p:spPr>
      </p:sp>
      <p:sp>
        <p:nvSpPr>
          <p:cNvPr id="9" name="Text 6"/>
          <p:cNvSpPr txBox="1"/>
          <p:nvPr/>
        </p:nvSpPr>
        <p:spPr>
          <a:xfrm>
            <a:off x="6793992" y="2148840"/>
            <a:ext cx="1664208" cy="347472"/>
          </a:xfrm>
          <a:prstGeom prst="rect">
            <a:avLst/>
          </a:prstGeom>
          <a:noFill/>
          <a:ln/>
        </p:spPr>
        <p:txBody>
          <a:bodyPr wrap="square" lIns="0" tIns="0" rIns="0" bIns="0" rtlCol="0" anchor="ctr"/>
          <a:lstStyle/>
          <a:p>
            <a:pPr algn="ctr" indent="0" marL="0">
              <a:buNone/>
            </a:pPr>
            <a:r>
              <a:rPr lang="en-US" sz="1200" b="1" dirty="0">
                <a:solidFill>
                  <a:schemeClr val="bg1"/>
                </a:solidFill>
              </a:rPr>
              <a:t>ITC co-founder</a:t>
            </a:r>
            <a:endParaRPr lang="en-US" sz="1200" dirty="0"/>
          </a:p>
        </p:txBody>
      </p:sp>
      <p:sp>
        <p:nvSpPr>
          <p:cNvPr id="10" name="Session card"/>
          <p:cNvSpPr/>
          <p:nvPr/>
        </p:nvSpPr>
        <p:spPr>
          <a:xfrm>
            <a:off x="4800600" y="2715768"/>
            <a:ext cx="6858000" cy="1691640"/>
          </a:xfrm>
          <a:prstGeom prst="roundRect">
            <a:avLst>
              <a:gd name="adj" fmla="val 6486"/>
            </a:avLst>
          </a:prstGeom>
          <a:solidFill>
            <a:schemeClr val="bg2"/>
          </a:solidFill>
          <a:ln/>
        </p:spPr>
      </p:sp>
      <p:pic>
        <p:nvPicPr>
          <p:cNvPr id="11"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2" name="Text 8"/>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3" name="Text 9"/>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Build Your First AI Assistant: From Idea to Working Demo</a:t>
            </a:r>
            <a:endParaRPr lang="en-US" sz="1800" dirty="0"/>
          </a:p>
        </p:txBody>
      </p:sp>
      <p:sp>
        <p:nvSpPr>
          <p:cNvPr id="14" name="Text 10"/>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Intermediate  ·  35 minutes</a:t>
            </a:r>
            <a:endParaRPr lang="en-US" sz="1300" dirty="0"/>
          </a:p>
        </p:txBody>
      </p:sp>
      <p:sp>
        <p:nvSpPr>
          <p:cNvPr id="15" name="Text 11"/>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Senior Technical Consultant for AI and Microsoft Copilot solutions</a:t>
            </a:r>
            <a:endParaRPr lang="en-US" sz="1400" dirty="0"/>
          </a:p>
          <a:p>
            <a:pPr marL="342900" indent="-342900">
              <a:spcAft>
                <a:spcPts val="600"/>
              </a:spcAft>
              <a:buSzPct val="100000"/>
              <a:buChar char="•"/>
            </a:pPr>
            <a:r>
              <a:rPr lang="en-US" sz="1400" dirty="0">
                <a:solidFill>
                  <a:schemeClr val="tx1"/>
                </a:solidFill>
              </a:rPr>
              <a:t>AI engineer and community speaker who builds practical AI applications</a:t>
            </a:r>
            <a:endParaRPr lang="en-US" sz="1400" dirty="0"/>
          </a:p>
          <a:p>
            <a:pPr marL="342900" indent="-342900">
              <a:spcAft>
                <a:spcPts val="600"/>
              </a:spcAft>
              <a:buSzPct val="100000"/>
              <a:buChar char="•"/>
            </a:pPr>
            <a:r>
              <a:rPr lang="en-US" sz="1400" dirty="0">
                <a:solidFill>
                  <a:schemeClr val="tx1"/>
                </a:solidFill>
              </a:rPr>
              <a:t>Co-founder of Innovation Tech Community</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Prathap Reddy photo" descr="/Users/prathapreddy/agentic-ai-summit-2026/tools/.cache/img/ph-prathap-reddy.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10:20 AM – 10:55 AM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Prathap Reddy</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AI MVP · AI Engineer, Sulava Mea</a:t>
            </a:r>
            <a:endParaRPr lang="en-US" sz="1500" dirty="0"/>
          </a:p>
        </p:txBody>
      </p:sp>
      <p:sp>
        <p:nvSpPr>
          <p:cNvPr id="6" name="Chip Microsoft AI MVP"/>
          <p:cNvSpPr/>
          <p:nvPr/>
        </p:nvSpPr>
        <p:spPr>
          <a:xfrm>
            <a:off x="4800600" y="2148840"/>
            <a:ext cx="1856232" cy="347472"/>
          </a:xfrm>
          <a:prstGeom prst="roundRect">
            <a:avLst>
              <a:gd name="adj" fmla="val 50000"/>
            </a:avLst>
          </a:prstGeom>
          <a:solidFill>
            <a:schemeClr val="accent2"/>
          </a:solidFill>
          <a:ln/>
        </p:spPr>
      </p:sp>
      <p:sp>
        <p:nvSpPr>
          <p:cNvPr id="7" name="Text 4"/>
          <p:cNvSpPr txBox="1"/>
          <p:nvPr/>
        </p:nvSpPr>
        <p:spPr>
          <a:xfrm>
            <a:off x="4800600" y="2148840"/>
            <a:ext cx="1856232"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AI MVP</a:t>
            </a:r>
            <a:endParaRPr lang="en-US" sz="1200" dirty="0"/>
          </a:p>
        </p:txBody>
      </p:sp>
      <p:sp>
        <p:nvSpPr>
          <p:cNvPr id="8" name="Chip ITC founder"/>
          <p:cNvSpPr/>
          <p:nvPr/>
        </p:nvSpPr>
        <p:spPr>
          <a:xfrm>
            <a:off x="6793992" y="2148840"/>
            <a:ext cx="1376172" cy="347472"/>
          </a:xfrm>
          <a:prstGeom prst="roundRect">
            <a:avLst>
              <a:gd name="adj" fmla="val 50000"/>
            </a:avLst>
          </a:prstGeom>
          <a:solidFill>
            <a:schemeClr val="accent2"/>
          </a:solidFill>
          <a:ln/>
        </p:spPr>
      </p:sp>
      <p:sp>
        <p:nvSpPr>
          <p:cNvPr id="9" name="Text 6"/>
          <p:cNvSpPr txBox="1"/>
          <p:nvPr/>
        </p:nvSpPr>
        <p:spPr>
          <a:xfrm>
            <a:off x="6793992" y="2148840"/>
            <a:ext cx="1376172" cy="347472"/>
          </a:xfrm>
          <a:prstGeom prst="rect">
            <a:avLst/>
          </a:prstGeom>
          <a:noFill/>
          <a:ln/>
        </p:spPr>
        <p:txBody>
          <a:bodyPr wrap="square" lIns="0" tIns="0" rIns="0" bIns="0" rtlCol="0" anchor="ctr"/>
          <a:lstStyle/>
          <a:p>
            <a:pPr algn="ctr" indent="0" marL="0">
              <a:buNone/>
            </a:pPr>
            <a:r>
              <a:rPr lang="en-US" sz="1200" b="1" dirty="0">
                <a:solidFill>
                  <a:schemeClr val="bg1"/>
                </a:solidFill>
              </a:rPr>
              <a:t>ITC founder</a:t>
            </a:r>
            <a:endParaRPr lang="en-US" sz="1200" dirty="0"/>
          </a:p>
        </p:txBody>
      </p:sp>
      <p:sp>
        <p:nvSpPr>
          <p:cNvPr id="10" name="Session card"/>
          <p:cNvSpPr/>
          <p:nvPr/>
        </p:nvSpPr>
        <p:spPr>
          <a:xfrm>
            <a:off x="4800600" y="2715768"/>
            <a:ext cx="6858000" cy="1691640"/>
          </a:xfrm>
          <a:prstGeom prst="roundRect">
            <a:avLst>
              <a:gd name="adj" fmla="val 6486"/>
            </a:avLst>
          </a:prstGeom>
          <a:solidFill>
            <a:schemeClr val="bg2"/>
          </a:solidFill>
          <a:ln/>
        </p:spPr>
      </p:sp>
      <p:pic>
        <p:nvPicPr>
          <p:cNvPr id="11"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2" name="Text 8"/>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3" name="Text 9"/>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From Copilots to Autonomous Agents: Building Agentic AI with Microsoft Foundry</a:t>
            </a:r>
            <a:endParaRPr lang="en-US" sz="1800" dirty="0"/>
          </a:p>
        </p:txBody>
      </p:sp>
      <p:sp>
        <p:nvSpPr>
          <p:cNvPr id="14" name="Text 10"/>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Intermediate  ·  35 minutes</a:t>
            </a:r>
            <a:endParaRPr lang="en-US" sz="1300" dirty="0"/>
          </a:p>
        </p:txBody>
      </p:sp>
      <p:sp>
        <p:nvSpPr>
          <p:cNvPr id="15" name="Text 11"/>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AI Engineer and Agentic AI consultant: Azure AI Foundry, Azure OpenAI, Copilot Studio and Microsoft 365 Copilot</a:t>
            </a:r>
            <a:endParaRPr lang="en-US" sz="1400" dirty="0"/>
          </a:p>
          <a:p>
            <a:pPr marL="342900" indent="-342900">
              <a:spcAft>
                <a:spcPts val="600"/>
              </a:spcAft>
              <a:buSzPct val="100000"/>
              <a:buChar char="•"/>
            </a:pPr>
            <a:r>
              <a:rPr lang="en-US" sz="1400" dirty="0">
                <a:solidFill>
                  <a:schemeClr val="tx1"/>
                </a:solidFill>
              </a:rPr>
              <a:t>Designs enterprise-grade agents, RAG architectures and multi-agent systems</a:t>
            </a:r>
            <a:endParaRPr lang="en-US" sz="1400" dirty="0"/>
          </a:p>
          <a:p>
            <a:pPr marL="342900" indent="-342900">
              <a:spcAft>
                <a:spcPts val="600"/>
              </a:spcAft>
              <a:buSzPct val="100000"/>
              <a:buChar char="•"/>
            </a:pPr>
            <a:r>
              <a:rPr lang="en-US" sz="1400" dirty="0">
                <a:solidFill>
                  <a:schemeClr val="tx1"/>
                </a:solidFill>
              </a:rPr>
              <a:t>Founder of Innovation Tech Community</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Frank Falvey photo" descr="/Users/prathapreddy/agentic-ai-summit-2026/tools/.cache/img/ph-frank-falvey.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10:55 AM – 11:30 AM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Frank Falvey</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MVP · Microsoft Certified Trainer · Cork, Ireland</a:t>
            </a:r>
            <a:endParaRPr lang="en-US" sz="1500" dirty="0"/>
          </a:p>
        </p:txBody>
      </p:sp>
      <p:sp>
        <p:nvSpPr>
          <p:cNvPr id="6" name="Chip Microsoft MVP"/>
          <p:cNvSpPr/>
          <p:nvPr/>
        </p:nvSpPr>
        <p:spPr>
          <a:xfrm>
            <a:off x="4800600" y="2148840"/>
            <a:ext cx="1568196" cy="347472"/>
          </a:xfrm>
          <a:prstGeom prst="roundRect">
            <a:avLst>
              <a:gd name="adj" fmla="val 50000"/>
            </a:avLst>
          </a:prstGeom>
          <a:solidFill>
            <a:schemeClr val="accent2"/>
          </a:solidFill>
          <a:ln/>
        </p:spPr>
      </p:sp>
      <p:sp>
        <p:nvSpPr>
          <p:cNvPr id="7" name="Text 4"/>
          <p:cNvSpPr txBox="1"/>
          <p:nvPr/>
        </p:nvSpPr>
        <p:spPr>
          <a:xfrm>
            <a:off x="4800600" y="2148840"/>
            <a:ext cx="1568196"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MVP</a:t>
            </a:r>
            <a:endParaRPr lang="en-US" sz="1200" dirty="0"/>
          </a:p>
        </p:txBody>
      </p:sp>
      <p:sp>
        <p:nvSpPr>
          <p:cNvPr id="8" name="Chip MCT"/>
          <p:cNvSpPr/>
          <p:nvPr/>
        </p:nvSpPr>
        <p:spPr>
          <a:xfrm>
            <a:off x="6505956" y="2148840"/>
            <a:ext cx="608076" cy="347472"/>
          </a:xfrm>
          <a:prstGeom prst="roundRect">
            <a:avLst>
              <a:gd name="adj" fmla="val 50000"/>
            </a:avLst>
          </a:prstGeom>
          <a:solidFill>
            <a:schemeClr val="accent2"/>
          </a:solidFill>
          <a:ln/>
        </p:spPr>
      </p:sp>
      <p:sp>
        <p:nvSpPr>
          <p:cNvPr id="9" name="Text 6"/>
          <p:cNvSpPr txBox="1"/>
          <p:nvPr/>
        </p:nvSpPr>
        <p:spPr>
          <a:xfrm>
            <a:off x="6505956" y="2148840"/>
            <a:ext cx="608076" cy="347472"/>
          </a:xfrm>
          <a:prstGeom prst="rect">
            <a:avLst/>
          </a:prstGeom>
          <a:noFill/>
          <a:ln/>
        </p:spPr>
        <p:txBody>
          <a:bodyPr wrap="square" lIns="0" tIns="0" rIns="0" bIns="0" rtlCol="0" anchor="ctr"/>
          <a:lstStyle/>
          <a:p>
            <a:pPr algn="ctr" indent="0" marL="0">
              <a:buNone/>
            </a:pPr>
            <a:r>
              <a:rPr lang="en-US" sz="1200" b="1" dirty="0">
                <a:solidFill>
                  <a:schemeClr val="bg1"/>
                </a:solidFill>
              </a:rPr>
              <a:t>MCT</a:t>
            </a:r>
            <a:endParaRPr lang="en-US" sz="1200" dirty="0"/>
          </a:p>
        </p:txBody>
      </p:sp>
      <p:sp>
        <p:nvSpPr>
          <p:cNvPr id="10" name="Session card"/>
          <p:cNvSpPr/>
          <p:nvPr/>
        </p:nvSpPr>
        <p:spPr>
          <a:xfrm>
            <a:off x="4800600" y="2715768"/>
            <a:ext cx="6858000" cy="1691640"/>
          </a:xfrm>
          <a:prstGeom prst="roundRect">
            <a:avLst>
              <a:gd name="adj" fmla="val 6486"/>
            </a:avLst>
          </a:prstGeom>
          <a:solidFill>
            <a:schemeClr val="bg2"/>
          </a:solidFill>
          <a:ln/>
        </p:spPr>
      </p:sp>
      <p:pic>
        <p:nvPicPr>
          <p:cNvPr id="11"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2" name="Text 8"/>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3" name="Text 9"/>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Microsoft Agentic AI: Framework Overview &amp; Live Agent Demos</a:t>
            </a:r>
            <a:endParaRPr lang="en-US" sz="1800" dirty="0"/>
          </a:p>
        </p:txBody>
      </p:sp>
      <p:sp>
        <p:nvSpPr>
          <p:cNvPr id="14" name="Text 10"/>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Intermediate  ·  35 minutes</a:t>
            </a:r>
            <a:endParaRPr lang="en-US" sz="1300" dirty="0"/>
          </a:p>
        </p:txBody>
      </p:sp>
      <p:sp>
        <p:nvSpPr>
          <p:cNvPr id="15" name="Text 11"/>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Microsoft 365 Copilot specialist with 25+ years across IT, infrastructure, cloud and training</a:t>
            </a:r>
            <a:endParaRPr lang="en-US" sz="1400" dirty="0"/>
          </a:p>
          <a:p>
            <a:pPr marL="342900" indent="-342900">
              <a:spcAft>
                <a:spcPts val="600"/>
              </a:spcAft>
              <a:buSzPct val="100000"/>
              <a:buChar char="•"/>
            </a:pPr>
            <a:r>
              <a:rPr lang="en-US" sz="1400" dirty="0">
                <a:solidFill>
                  <a:schemeClr val="tx1"/>
                </a:solidFill>
              </a:rPr>
              <a:t>Host of the Azure and AI Show</a:t>
            </a:r>
            <a:endParaRPr lang="en-US" sz="1400" dirty="0"/>
          </a:p>
          <a:p>
            <a:pPr marL="342900" indent="-342900">
              <a:spcAft>
                <a:spcPts val="600"/>
              </a:spcAft>
              <a:buSzPct val="100000"/>
              <a:buChar char="•"/>
            </a:pPr>
            <a:r>
              <a:rPr lang="en-US" sz="1400" dirty="0">
                <a:solidFill>
                  <a:schemeClr val="tx1"/>
                </a:solidFill>
              </a:rPr>
              <a:t>Known for a friendly, hands-on approach that makes complex topics easy</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Vinoth Rajendran photo" descr="/Users/prathapreddy/agentic-ai-summit-2026/tools/.cache/img/ph-vinoth-rajendran.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11:30 AM – 12:05 PM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Vinoth Rajendran</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AI MVP · Software Developer</a:t>
            </a:r>
            <a:endParaRPr lang="en-US" sz="1500" dirty="0"/>
          </a:p>
        </p:txBody>
      </p:sp>
      <p:sp>
        <p:nvSpPr>
          <p:cNvPr id="6" name="Chip Microsoft AI MVP"/>
          <p:cNvSpPr/>
          <p:nvPr/>
        </p:nvSpPr>
        <p:spPr>
          <a:xfrm>
            <a:off x="4800600" y="2148840"/>
            <a:ext cx="1856232" cy="347472"/>
          </a:xfrm>
          <a:prstGeom prst="roundRect">
            <a:avLst>
              <a:gd name="adj" fmla="val 50000"/>
            </a:avLst>
          </a:prstGeom>
          <a:solidFill>
            <a:schemeClr val="accent2"/>
          </a:solidFill>
          <a:ln/>
        </p:spPr>
      </p:sp>
      <p:sp>
        <p:nvSpPr>
          <p:cNvPr id="7" name="Text 4"/>
          <p:cNvSpPr txBox="1"/>
          <p:nvPr/>
        </p:nvSpPr>
        <p:spPr>
          <a:xfrm>
            <a:off x="4800600" y="2148840"/>
            <a:ext cx="1856232"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AI MVP</a:t>
            </a:r>
            <a:endParaRPr lang="en-US" sz="1200" dirty="0"/>
          </a:p>
        </p:txBody>
      </p:sp>
      <p:sp>
        <p:nvSpPr>
          <p:cNvPr id="8" name="Session card"/>
          <p:cNvSpPr/>
          <p:nvPr/>
        </p:nvSpPr>
        <p:spPr>
          <a:xfrm>
            <a:off x="4800600" y="2715768"/>
            <a:ext cx="6858000" cy="1691640"/>
          </a:xfrm>
          <a:prstGeom prst="roundRect">
            <a:avLst>
              <a:gd name="adj" fmla="val 6486"/>
            </a:avLst>
          </a:prstGeom>
          <a:solidFill>
            <a:schemeClr val="bg2"/>
          </a:solidFill>
          <a:ln/>
        </p:spPr>
      </p:sp>
      <p:pic>
        <p:nvPicPr>
          <p:cNvPr id="9"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0" name="Text 6"/>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1" name="Text 7"/>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From Idea to Agent: Building with Microsoft Agent Framework</a:t>
            </a:r>
            <a:endParaRPr lang="en-US" sz="1800" dirty="0"/>
          </a:p>
        </p:txBody>
      </p:sp>
      <p:sp>
        <p:nvSpPr>
          <p:cNvPr id="12" name="Text 8"/>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Intermediate  ·  35 minutes</a:t>
            </a:r>
            <a:endParaRPr lang="en-US" sz="1300" dirty="0"/>
          </a:p>
        </p:txBody>
      </p:sp>
      <p:sp>
        <p:nvSpPr>
          <p:cNvPr id="13" name="Text 9"/>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Specialises in Generative AI, Azure AI and intelligent agents</a:t>
            </a:r>
            <a:endParaRPr lang="en-US" sz="1400" dirty="0"/>
          </a:p>
          <a:p>
            <a:pPr marL="342900" indent="-342900">
              <a:spcAft>
                <a:spcPts val="600"/>
              </a:spcAft>
              <a:buSzPct val="100000"/>
              <a:buChar char="•"/>
            </a:pPr>
            <a:r>
              <a:rPr lang="en-US" sz="1400" dirty="0">
                <a:solidFill>
                  <a:schemeClr val="tx1"/>
                </a:solidFill>
              </a:rPr>
              <a:t>Expertise in Copilot Studio, Semantic Kernel and .NET</a:t>
            </a:r>
            <a:endParaRPr lang="en-US" sz="1400" dirty="0"/>
          </a:p>
          <a:p>
            <a:pPr marL="342900" indent="-342900">
              <a:spcAft>
                <a:spcPts val="600"/>
              </a:spcAft>
              <a:buSzPct val="100000"/>
              <a:buChar char="•"/>
            </a:pPr>
            <a:r>
              <a:rPr lang="en-US" sz="1400" dirty="0">
                <a:solidFill>
                  <a:schemeClr val="tx1"/>
                </a:solidFill>
              </a:rPr>
              <a:t>Regular speaker sharing hands-on demos at community events</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Ashutosh Singh photo" descr="/Users/prathapreddy/agentic-ai-summit-2026/tools/.cache/img/ph-ashutosh-singh.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12:05 PM – 12:40 PM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Ashutosh Singh</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Copilot Studio SME &amp; Dynamics 365 CE · Tata Consultancy Services</a:t>
            </a:r>
            <a:endParaRPr lang="en-US" sz="1500" dirty="0"/>
          </a:p>
        </p:txBody>
      </p:sp>
      <p:sp>
        <p:nvSpPr>
          <p:cNvPr id="6" name="Chip Copilot Studio SME"/>
          <p:cNvSpPr/>
          <p:nvPr/>
        </p:nvSpPr>
        <p:spPr>
          <a:xfrm>
            <a:off x="4800600" y="2148840"/>
            <a:ext cx="2048256" cy="347472"/>
          </a:xfrm>
          <a:prstGeom prst="roundRect">
            <a:avLst>
              <a:gd name="adj" fmla="val 50000"/>
            </a:avLst>
          </a:prstGeom>
          <a:solidFill>
            <a:schemeClr val="accent2"/>
          </a:solidFill>
          <a:ln/>
        </p:spPr>
      </p:sp>
      <p:sp>
        <p:nvSpPr>
          <p:cNvPr id="7" name="Text 4"/>
          <p:cNvSpPr txBox="1"/>
          <p:nvPr/>
        </p:nvSpPr>
        <p:spPr>
          <a:xfrm>
            <a:off x="4800600" y="2148840"/>
            <a:ext cx="2048256" cy="347472"/>
          </a:xfrm>
          <a:prstGeom prst="rect">
            <a:avLst/>
          </a:prstGeom>
          <a:noFill/>
          <a:ln/>
        </p:spPr>
        <p:txBody>
          <a:bodyPr wrap="square" lIns="0" tIns="0" rIns="0" bIns="0" rtlCol="0" anchor="ctr"/>
          <a:lstStyle/>
          <a:p>
            <a:pPr algn="ctr" indent="0" marL="0">
              <a:buNone/>
            </a:pPr>
            <a:r>
              <a:rPr lang="en-US" sz="1200" b="1" dirty="0">
                <a:solidFill>
                  <a:schemeClr val="bg1"/>
                </a:solidFill>
              </a:rPr>
              <a:t>Copilot Studio SME</a:t>
            </a:r>
            <a:endParaRPr lang="en-US" sz="1200" dirty="0"/>
          </a:p>
        </p:txBody>
      </p:sp>
      <p:sp>
        <p:nvSpPr>
          <p:cNvPr id="8" name="Session card"/>
          <p:cNvSpPr/>
          <p:nvPr/>
        </p:nvSpPr>
        <p:spPr>
          <a:xfrm>
            <a:off x="4800600" y="2715768"/>
            <a:ext cx="6858000" cy="1691640"/>
          </a:xfrm>
          <a:prstGeom prst="roundRect">
            <a:avLst>
              <a:gd name="adj" fmla="val 6486"/>
            </a:avLst>
          </a:prstGeom>
          <a:solidFill>
            <a:schemeClr val="bg2"/>
          </a:solidFill>
          <a:ln/>
        </p:spPr>
      </p:sp>
      <p:pic>
        <p:nvPicPr>
          <p:cNvPr id="9"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0" name="Text 6"/>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1" name="Text 7"/>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Building SnowPilot: Agentic AI in Action with Copilot Studio</a:t>
            </a:r>
            <a:endParaRPr lang="en-US" sz="1800" dirty="0"/>
          </a:p>
        </p:txBody>
      </p:sp>
      <p:sp>
        <p:nvSpPr>
          <p:cNvPr id="12" name="Text 8"/>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Live demo  ·  Intermediate  ·  35 minutes</a:t>
            </a:r>
            <a:endParaRPr lang="en-US" sz="1300" dirty="0"/>
          </a:p>
        </p:txBody>
      </p:sp>
      <p:sp>
        <p:nvSpPr>
          <p:cNvPr id="13" name="Text 9"/>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Hands-on experience in CRM and Microsoft Power Platform</a:t>
            </a:r>
            <a:endParaRPr lang="en-US" sz="1400" dirty="0"/>
          </a:p>
          <a:p>
            <a:pPr marL="342900" indent="-342900">
              <a:spcAft>
                <a:spcPts val="600"/>
              </a:spcAft>
              <a:buSzPct val="100000"/>
              <a:buChar char="•"/>
            </a:pPr>
            <a:r>
              <a:rPr lang="en-US" sz="1400" dirty="0">
                <a:solidFill>
                  <a:schemeClr val="tx1"/>
                </a:solidFill>
              </a:rPr>
              <a:t>Builder of SnowPilot: a Copilot Studio agent connected to ServiceNow</a:t>
            </a:r>
            <a:endParaRPr lang="en-US" sz="1400" dirty="0"/>
          </a:p>
          <a:p>
            <a:pPr marL="342900" indent="-342900">
              <a:spcAft>
                <a:spcPts val="600"/>
              </a:spcAft>
              <a:buSzPct val="100000"/>
              <a:buChar char="•"/>
            </a:pPr>
            <a:r>
              <a:rPr lang="en-US" sz="1400" dirty="0">
                <a:solidFill>
                  <a:schemeClr val="tx1"/>
                </a:solidFill>
              </a:rPr>
              <a:t>Believes in learning by building and taking AI beyond proofs of concept</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ujin Nelladath photo" descr="/Users/prathapreddy/agentic-ai-summit-2026/tools/.cache/img/ph-sujin-nelladath.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12:40 PM – 1:15 PM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Sujin Nelladath</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MVP · Modern Workplace Architect, NTT Data</a:t>
            </a:r>
            <a:endParaRPr lang="en-US" sz="1500" dirty="0"/>
          </a:p>
        </p:txBody>
      </p:sp>
      <p:sp>
        <p:nvSpPr>
          <p:cNvPr id="6" name="Chip Microsoft MVP"/>
          <p:cNvSpPr/>
          <p:nvPr/>
        </p:nvSpPr>
        <p:spPr>
          <a:xfrm>
            <a:off x="4800600" y="2148840"/>
            <a:ext cx="1568196" cy="347472"/>
          </a:xfrm>
          <a:prstGeom prst="roundRect">
            <a:avLst>
              <a:gd name="adj" fmla="val 50000"/>
            </a:avLst>
          </a:prstGeom>
          <a:solidFill>
            <a:schemeClr val="accent2"/>
          </a:solidFill>
          <a:ln/>
        </p:spPr>
      </p:sp>
      <p:sp>
        <p:nvSpPr>
          <p:cNvPr id="7" name="Text 4"/>
          <p:cNvSpPr txBox="1"/>
          <p:nvPr/>
        </p:nvSpPr>
        <p:spPr>
          <a:xfrm>
            <a:off x="4800600" y="2148840"/>
            <a:ext cx="1568196"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MVP</a:t>
            </a:r>
            <a:endParaRPr lang="en-US" sz="1200" dirty="0"/>
          </a:p>
        </p:txBody>
      </p:sp>
      <p:sp>
        <p:nvSpPr>
          <p:cNvPr id="8" name="Session card"/>
          <p:cNvSpPr/>
          <p:nvPr/>
        </p:nvSpPr>
        <p:spPr>
          <a:xfrm>
            <a:off x="4800600" y="2715768"/>
            <a:ext cx="6858000" cy="1691640"/>
          </a:xfrm>
          <a:prstGeom prst="roundRect">
            <a:avLst>
              <a:gd name="adj" fmla="val 6486"/>
            </a:avLst>
          </a:prstGeom>
          <a:solidFill>
            <a:schemeClr val="bg2"/>
          </a:solidFill>
          <a:ln/>
        </p:spPr>
      </p:sp>
      <p:pic>
        <p:nvPicPr>
          <p:cNvPr id="9"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0" name="Text 6"/>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1" name="Text 7"/>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AI-Powered IT Operations: Troubleshooting Smarter with MCP and Microsoft Learn</a:t>
            </a:r>
            <a:endParaRPr lang="en-US" sz="1800" dirty="0"/>
          </a:p>
        </p:txBody>
      </p:sp>
      <p:sp>
        <p:nvSpPr>
          <p:cNvPr id="12" name="Text 8"/>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Intermediate  ·  35 minutes</a:t>
            </a:r>
            <a:endParaRPr lang="en-US" sz="1300" dirty="0"/>
          </a:p>
        </p:txBody>
      </p:sp>
      <p:sp>
        <p:nvSpPr>
          <p:cNvPr id="13" name="Text 9"/>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Modern workplace architect focused on Microsoft Intune, Microsoft Graph, cloud and automation</a:t>
            </a:r>
            <a:endParaRPr lang="en-US" sz="1400" dirty="0"/>
          </a:p>
          <a:p>
            <a:pPr marL="342900" indent="-342900">
              <a:spcAft>
                <a:spcPts val="600"/>
              </a:spcAft>
              <a:buSzPct val="100000"/>
              <a:buChar char="•"/>
            </a:pPr>
            <a:r>
              <a:rPr lang="en-US" sz="1400" dirty="0">
                <a:solidFill>
                  <a:schemeClr val="tx1"/>
                </a:solidFill>
              </a:rPr>
              <a:t>Journey from desktop engineer in 2013 to cloud advisor for organisations</a:t>
            </a:r>
            <a:endParaRPr lang="en-US" sz="1400" dirty="0"/>
          </a:p>
          <a:p>
            <a:pPr marL="342900" indent="-342900">
              <a:spcAft>
                <a:spcPts val="600"/>
              </a:spcAft>
              <a:buSzPct val="100000"/>
              <a:buChar char="•"/>
            </a:pPr>
            <a:r>
              <a:rPr lang="en-US" sz="1400" dirty="0">
                <a:solidFill>
                  <a:schemeClr val="tx1"/>
                </a:solidFill>
              </a:rPr>
              <a:t>Shares knowledge through blogs and videos, and has trained many people starting IT careers</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Kritika Mehta photo" descr="/Users/prathapreddy/agentic-ai-summit-2026/tools/.cache/img/ph-kritika-mehta.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1:15 PM – 1:50 PM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Kritika Mehta</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Solution Architect · Business Central &amp; AI Architecture</a:t>
            </a:r>
            <a:endParaRPr lang="en-US" sz="1500" dirty="0"/>
          </a:p>
        </p:txBody>
      </p:sp>
      <p:sp>
        <p:nvSpPr>
          <p:cNvPr id="6" name="Chip 15+ yrs Dynamics"/>
          <p:cNvSpPr/>
          <p:nvPr/>
        </p:nvSpPr>
        <p:spPr>
          <a:xfrm>
            <a:off x="4800600" y="2148840"/>
            <a:ext cx="1856232" cy="347472"/>
          </a:xfrm>
          <a:prstGeom prst="roundRect">
            <a:avLst>
              <a:gd name="adj" fmla="val 50000"/>
            </a:avLst>
          </a:prstGeom>
          <a:solidFill>
            <a:schemeClr val="accent2"/>
          </a:solidFill>
          <a:ln/>
        </p:spPr>
      </p:sp>
      <p:sp>
        <p:nvSpPr>
          <p:cNvPr id="7" name="Text 4"/>
          <p:cNvSpPr txBox="1"/>
          <p:nvPr/>
        </p:nvSpPr>
        <p:spPr>
          <a:xfrm>
            <a:off x="4800600" y="2148840"/>
            <a:ext cx="1856232" cy="347472"/>
          </a:xfrm>
          <a:prstGeom prst="rect">
            <a:avLst/>
          </a:prstGeom>
          <a:noFill/>
          <a:ln/>
        </p:spPr>
        <p:txBody>
          <a:bodyPr wrap="square" lIns="0" tIns="0" rIns="0" bIns="0" rtlCol="0" anchor="ctr"/>
          <a:lstStyle/>
          <a:p>
            <a:pPr algn="ctr" indent="0" marL="0">
              <a:buNone/>
            </a:pPr>
            <a:r>
              <a:rPr lang="en-US" sz="1200" b="1" dirty="0">
                <a:solidFill>
                  <a:schemeClr val="bg1"/>
                </a:solidFill>
              </a:rPr>
              <a:t>15+ yrs Dynamics</a:t>
            </a:r>
            <a:endParaRPr lang="en-US" sz="1200" dirty="0"/>
          </a:p>
        </p:txBody>
      </p:sp>
      <p:sp>
        <p:nvSpPr>
          <p:cNvPr id="8" name="Chip Podcast host"/>
          <p:cNvSpPr/>
          <p:nvPr/>
        </p:nvSpPr>
        <p:spPr>
          <a:xfrm>
            <a:off x="6793992" y="2148840"/>
            <a:ext cx="1472184" cy="347472"/>
          </a:xfrm>
          <a:prstGeom prst="roundRect">
            <a:avLst>
              <a:gd name="adj" fmla="val 50000"/>
            </a:avLst>
          </a:prstGeom>
          <a:solidFill>
            <a:schemeClr val="accent2"/>
          </a:solidFill>
          <a:ln/>
        </p:spPr>
      </p:sp>
      <p:sp>
        <p:nvSpPr>
          <p:cNvPr id="9" name="Text 6"/>
          <p:cNvSpPr txBox="1"/>
          <p:nvPr/>
        </p:nvSpPr>
        <p:spPr>
          <a:xfrm>
            <a:off x="6793992" y="2148840"/>
            <a:ext cx="1472184" cy="347472"/>
          </a:xfrm>
          <a:prstGeom prst="rect">
            <a:avLst/>
          </a:prstGeom>
          <a:noFill/>
          <a:ln/>
        </p:spPr>
        <p:txBody>
          <a:bodyPr wrap="square" lIns="0" tIns="0" rIns="0" bIns="0" rtlCol="0" anchor="ctr"/>
          <a:lstStyle/>
          <a:p>
            <a:pPr algn="ctr" indent="0" marL="0">
              <a:buNone/>
            </a:pPr>
            <a:r>
              <a:rPr lang="en-US" sz="1200" b="1" dirty="0">
                <a:solidFill>
                  <a:schemeClr val="bg1"/>
                </a:solidFill>
              </a:rPr>
              <a:t>Podcast host</a:t>
            </a:r>
            <a:endParaRPr lang="en-US" sz="1200" dirty="0"/>
          </a:p>
        </p:txBody>
      </p:sp>
      <p:sp>
        <p:nvSpPr>
          <p:cNvPr id="10" name="Session card"/>
          <p:cNvSpPr/>
          <p:nvPr/>
        </p:nvSpPr>
        <p:spPr>
          <a:xfrm>
            <a:off x="4800600" y="2715768"/>
            <a:ext cx="6858000" cy="1691640"/>
          </a:xfrm>
          <a:prstGeom prst="roundRect">
            <a:avLst>
              <a:gd name="adj" fmla="val 6486"/>
            </a:avLst>
          </a:prstGeom>
          <a:solidFill>
            <a:schemeClr val="bg2"/>
          </a:solidFill>
          <a:ln/>
        </p:spPr>
      </p:sp>
      <p:pic>
        <p:nvPicPr>
          <p:cNvPr id="11"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2" name="Text 8"/>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3" name="Text 9"/>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The Zero-Handoff ERP: Architecting a Multi-Agent Workforce</a:t>
            </a:r>
            <a:endParaRPr lang="en-US" sz="1800" dirty="0"/>
          </a:p>
        </p:txBody>
      </p:sp>
      <p:sp>
        <p:nvSpPr>
          <p:cNvPr id="14" name="Text 10"/>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Live demo  ·  Intermediate  ·  35 minutes</a:t>
            </a:r>
            <a:endParaRPr lang="en-US" sz="1300" dirty="0"/>
          </a:p>
        </p:txBody>
      </p:sp>
      <p:sp>
        <p:nvSpPr>
          <p:cNvPr id="15" name="Text 11"/>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Solution Architect working with Microsoft Dynamics since the C/SIDE and Classic Client era</a:t>
            </a:r>
            <a:endParaRPr lang="en-US" sz="1400" dirty="0"/>
          </a:p>
          <a:p>
            <a:pPr marL="342900" indent="-342900">
              <a:spcAft>
                <a:spcPts val="600"/>
              </a:spcAft>
              <a:buSzPct val="100000"/>
              <a:buChar char="•"/>
            </a:pPr>
            <a:r>
              <a:rPr lang="en-US" sz="1400" dirty="0">
                <a:solidFill>
                  <a:schemeClr val="tx1"/>
                </a:solidFill>
              </a:rPr>
              <a:t>Shares her learning on her YouTube channel, Architect AI Lab</a:t>
            </a:r>
            <a:endParaRPr lang="en-US" sz="1400" dirty="0"/>
          </a:p>
          <a:p>
            <a:pPr marL="342900" indent="-342900">
              <a:spcAft>
                <a:spcPts val="600"/>
              </a:spcAft>
              <a:buSzPct val="100000"/>
              <a:buChar char="•"/>
            </a:pPr>
            <a:r>
              <a:rPr lang="en-US" sz="1400" dirty="0">
                <a:solidFill>
                  <a:schemeClr val="tx1"/>
                </a:solidFill>
              </a:rPr>
              <a:t>Hosts the podcast Architects in the AI Era</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hantha Kumar T photo" descr="/Users/prathapreddy/agentic-ai-summit-2026/tools/.cache/img/ph-shantha-kumar-t.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1:50 PM – 2:25 PM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Shantha Kumar T</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Copilot MVP · CTO, SharePoint Designs</a:t>
            </a:r>
            <a:endParaRPr lang="en-US" sz="1500" dirty="0"/>
          </a:p>
        </p:txBody>
      </p:sp>
      <p:sp>
        <p:nvSpPr>
          <p:cNvPr id="6" name="Chip Microsoft Copilot MVP"/>
          <p:cNvSpPr/>
          <p:nvPr/>
        </p:nvSpPr>
        <p:spPr>
          <a:xfrm>
            <a:off x="4800600" y="2148840"/>
            <a:ext cx="2336292" cy="347472"/>
          </a:xfrm>
          <a:prstGeom prst="roundRect">
            <a:avLst>
              <a:gd name="adj" fmla="val 50000"/>
            </a:avLst>
          </a:prstGeom>
          <a:solidFill>
            <a:schemeClr val="accent2"/>
          </a:solidFill>
          <a:ln/>
        </p:spPr>
      </p:sp>
      <p:sp>
        <p:nvSpPr>
          <p:cNvPr id="7" name="Text 4"/>
          <p:cNvSpPr txBox="1"/>
          <p:nvPr/>
        </p:nvSpPr>
        <p:spPr>
          <a:xfrm>
            <a:off x="4800600" y="2148840"/>
            <a:ext cx="2336292"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Copilot MVP</a:t>
            </a:r>
            <a:endParaRPr lang="en-US" sz="1200" dirty="0"/>
          </a:p>
        </p:txBody>
      </p:sp>
      <p:sp>
        <p:nvSpPr>
          <p:cNvPr id="8" name="Chip CTO"/>
          <p:cNvSpPr/>
          <p:nvPr/>
        </p:nvSpPr>
        <p:spPr>
          <a:xfrm>
            <a:off x="7274052" y="2148840"/>
            <a:ext cx="608076" cy="347472"/>
          </a:xfrm>
          <a:prstGeom prst="roundRect">
            <a:avLst>
              <a:gd name="adj" fmla="val 50000"/>
            </a:avLst>
          </a:prstGeom>
          <a:solidFill>
            <a:schemeClr val="accent2"/>
          </a:solidFill>
          <a:ln/>
        </p:spPr>
      </p:sp>
      <p:sp>
        <p:nvSpPr>
          <p:cNvPr id="9" name="Text 6"/>
          <p:cNvSpPr txBox="1"/>
          <p:nvPr/>
        </p:nvSpPr>
        <p:spPr>
          <a:xfrm>
            <a:off x="7274052" y="2148840"/>
            <a:ext cx="608076" cy="347472"/>
          </a:xfrm>
          <a:prstGeom prst="rect">
            <a:avLst/>
          </a:prstGeom>
          <a:noFill/>
          <a:ln/>
        </p:spPr>
        <p:txBody>
          <a:bodyPr wrap="square" lIns="0" tIns="0" rIns="0" bIns="0" rtlCol="0" anchor="ctr"/>
          <a:lstStyle/>
          <a:p>
            <a:pPr algn="ctr" indent="0" marL="0">
              <a:buNone/>
            </a:pPr>
            <a:r>
              <a:rPr lang="en-US" sz="1200" b="1" dirty="0">
                <a:solidFill>
                  <a:schemeClr val="bg1"/>
                </a:solidFill>
              </a:rPr>
              <a:t>CTO</a:t>
            </a:r>
            <a:endParaRPr lang="en-US" sz="1200" dirty="0"/>
          </a:p>
        </p:txBody>
      </p:sp>
      <p:sp>
        <p:nvSpPr>
          <p:cNvPr id="10" name="Session card"/>
          <p:cNvSpPr/>
          <p:nvPr/>
        </p:nvSpPr>
        <p:spPr>
          <a:xfrm>
            <a:off x="4800600" y="2715768"/>
            <a:ext cx="6858000" cy="1691640"/>
          </a:xfrm>
          <a:prstGeom prst="roundRect">
            <a:avLst>
              <a:gd name="adj" fmla="val 6486"/>
            </a:avLst>
          </a:prstGeom>
          <a:solidFill>
            <a:schemeClr val="bg2"/>
          </a:solidFill>
          <a:ln/>
        </p:spPr>
      </p:sp>
      <p:pic>
        <p:nvPicPr>
          <p:cNvPr id="11"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2" name="Text 8"/>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3" name="Text 9"/>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Building with Confidence: Inside Microsoft’s Copilot Managed Runtime</a:t>
            </a:r>
            <a:endParaRPr lang="en-US" sz="1800" dirty="0"/>
          </a:p>
        </p:txBody>
      </p:sp>
      <p:sp>
        <p:nvSpPr>
          <p:cNvPr id="14" name="Text 10"/>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Live demo  ·  Intermediate  ·  35 minutes</a:t>
            </a:r>
            <a:endParaRPr lang="en-US" sz="1300" dirty="0"/>
          </a:p>
        </p:txBody>
      </p:sp>
      <p:sp>
        <p:nvSpPr>
          <p:cNvPr id="15" name="Text 11"/>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19 years in the modern workspace as developer, UI designer and architect</a:t>
            </a:r>
            <a:endParaRPr lang="en-US" sz="1400" dirty="0"/>
          </a:p>
          <a:p>
            <a:pPr marL="342900" indent="-342900">
              <a:spcAft>
                <a:spcPts val="600"/>
              </a:spcAft>
              <a:buSzPct val="100000"/>
              <a:buChar char="•"/>
            </a:pPr>
            <a:r>
              <a:rPr lang="en-US" sz="1400" dirty="0">
                <a:solidFill>
                  <a:schemeClr val="tx1"/>
                </a:solidFill>
              </a:rPr>
              <a:t>Chief Technology Officer at SharePoint Designs, Chennai</a:t>
            </a:r>
            <a:endParaRPr lang="en-US" sz="1400" dirty="0"/>
          </a:p>
          <a:p>
            <a:pPr marL="342900" indent="-342900">
              <a:spcAft>
                <a:spcPts val="600"/>
              </a:spcAft>
              <a:buSzPct val="100000"/>
              <a:buChar char="•"/>
            </a:pPr>
            <a:r>
              <a:rPr lang="en-US" sz="1400" dirty="0">
                <a:solidFill>
                  <a:schemeClr val="tx1"/>
                </a:solidFill>
              </a:rPr>
              <a:t>Focused on cloud, modern workspace and AI</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Janarthanan Selvaraj photo" descr="/Users/prathapreddy/agentic-ai-summit-2026/tools/.cache/img/ph-janarthanan-selvaraj.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2:25 PM – 3:00 PM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Janarthanan Selvaraj</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AI MVP · Senior Manager, Technology &amp; AI, Atos</a:t>
            </a:r>
            <a:endParaRPr lang="en-US" sz="1500" dirty="0"/>
          </a:p>
        </p:txBody>
      </p:sp>
      <p:sp>
        <p:nvSpPr>
          <p:cNvPr id="6" name="Chip Microsoft AI MVP"/>
          <p:cNvSpPr/>
          <p:nvPr/>
        </p:nvSpPr>
        <p:spPr>
          <a:xfrm>
            <a:off x="4800600" y="2148840"/>
            <a:ext cx="1856232" cy="347472"/>
          </a:xfrm>
          <a:prstGeom prst="roundRect">
            <a:avLst>
              <a:gd name="adj" fmla="val 50000"/>
            </a:avLst>
          </a:prstGeom>
          <a:solidFill>
            <a:schemeClr val="accent2"/>
          </a:solidFill>
          <a:ln/>
        </p:spPr>
      </p:sp>
      <p:sp>
        <p:nvSpPr>
          <p:cNvPr id="7" name="Text 4"/>
          <p:cNvSpPr txBox="1"/>
          <p:nvPr/>
        </p:nvSpPr>
        <p:spPr>
          <a:xfrm>
            <a:off x="4800600" y="2148840"/>
            <a:ext cx="1856232"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AI MVP</a:t>
            </a:r>
            <a:endParaRPr lang="en-US" sz="1200" dirty="0"/>
          </a:p>
        </p:txBody>
      </p:sp>
      <p:sp>
        <p:nvSpPr>
          <p:cNvPr id="8" name="Chip 40 certifications"/>
          <p:cNvSpPr/>
          <p:nvPr/>
        </p:nvSpPr>
        <p:spPr>
          <a:xfrm>
            <a:off x="6793992" y="2148840"/>
            <a:ext cx="1952244" cy="347472"/>
          </a:xfrm>
          <a:prstGeom prst="roundRect">
            <a:avLst>
              <a:gd name="adj" fmla="val 50000"/>
            </a:avLst>
          </a:prstGeom>
          <a:solidFill>
            <a:schemeClr val="accent2"/>
          </a:solidFill>
          <a:ln/>
        </p:spPr>
      </p:sp>
      <p:sp>
        <p:nvSpPr>
          <p:cNvPr id="9" name="Text 6"/>
          <p:cNvSpPr txBox="1"/>
          <p:nvPr/>
        </p:nvSpPr>
        <p:spPr>
          <a:xfrm>
            <a:off x="6793992" y="2148840"/>
            <a:ext cx="1952244" cy="347472"/>
          </a:xfrm>
          <a:prstGeom prst="rect">
            <a:avLst/>
          </a:prstGeom>
          <a:noFill/>
          <a:ln/>
        </p:spPr>
        <p:txBody>
          <a:bodyPr wrap="square" lIns="0" tIns="0" rIns="0" bIns="0" rtlCol="0" anchor="ctr"/>
          <a:lstStyle/>
          <a:p>
            <a:pPr algn="ctr" indent="0" marL="0">
              <a:buNone/>
            </a:pPr>
            <a:r>
              <a:rPr lang="en-US" sz="1200" b="1" dirty="0">
                <a:solidFill>
                  <a:schemeClr val="bg1"/>
                </a:solidFill>
              </a:rPr>
              <a:t>40 certifications</a:t>
            </a:r>
            <a:endParaRPr lang="en-US" sz="1200" dirty="0"/>
          </a:p>
        </p:txBody>
      </p:sp>
      <p:sp>
        <p:nvSpPr>
          <p:cNvPr id="10" name="Session card"/>
          <p:cNvSpPr/>
          <p:nvPr/>
        </p:nvSpPr>
        <p:spPr>
          <a:xfrm>
            <a:off x="4800600" y="2715768"/>
            <a:ext cx="6858000" cy="1691640"/>
          </a:xfrm>
          <a:prstGeom prst="roundRect">
            <a:avLst>
              <a:gd name="adj" fmla="val 6486"/>
            </a:avLst>
          </a:prstGeom>
          <a:solidFill>
            <a:schemeClr val="bg2"/>
          </a:solidFill>
          <a:ln/>
        </p:spPr>
      </p:sp>
      <p:pic>
        <p:nvPicPr>
          <p:cNvPr id="11"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2" name="Text 8"/>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3" name="Text 9"/>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Agents of Tomorrow: Building the Next Generation of AI with Microsoft Foundry</a:t>
            </a:r>
            <a:endParaRPr lang="en-US" sz="1800" dirty="0"/>
          </a:p>
        </p:txBody>
      </p:sp>
      <p:sp>
        <p:nvSpPr>
          <p:cNvPr id="14" name="Text 10"/>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Intermediate  ·  35 minutes</a:t>
            </a:r>
            <a:endParaRPr lang="en-US" sz="1300" dirty="0"/>
          </a:p>
        </p:txBody>
      </p:sp>
      <p:sp>
        <p:nvSpPr>
          <p:cNvPr id="15" name="Text 11"/>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Microsoft MVP in AI for his expertise in Microsoft Foundry; Guinness World Record holder</a:t>
            </a:r>
            <a:endParaRPr lang="en-US" sz="1400" dirty="0"/>
          </a:p>
          <a:p>
            <a:pPr marL="342900" indent="-342900">
              <a:spcAft>
                <a:spcPts val="600"/>
              </a:spcAft>
              <a:buSzPct val="100000"/>
              <a:buChar char="•"/>
            </a:pPr>
            <a:r>
              <a:rPr lang="en-US" sz="1400" dirty="0">
                <a:solidFill>
                  <a:schemeClr val="tx1"/>
                </a:solidFill>
              </a:rPr>
              <a:t>Alumnus of the University of Cambridge FUEL Leadership programme; six-time Microsoft Certified Trainer</a:t>
            </a:r>
            <a:endParaRPr lang="en-US" sz="1400" dirty="0"/>
          </a:p>
          <a:p>
            <a:pPr marL="342900" indent="-342900">
              <a:spcAft>
                <a:spcPts val="600"/>
              </a:spcAft>
              <a:buSzPct val="100000"/>
              <a:buChar char="•"/>
            </a:pPr>
            <a:r>
              <a:rPr lang="en-US" sz="1400" dirty="0">
                <a:solidFill>
                  <a:schemeClr val="tx1"/>
                </a:solidFill>
              </a:rPr>
              <a:t>Microsoft Certified Community Lead, Microsoft Learn Expert and C# Corner MVP; 40 cloud certifications</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amik Roy photo" descr="/Users/prathapreddy/agentic-ai-summit-2026/tools/.cache/img/ph-samik-roy.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3:00 PM – 3:35 PM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Samik Roy</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MVP · Threat Intelligence &amp; Microsoft Security</a:t>
            </a:r>
            <a:endParaRPr lang="en-US" sz="1500" dirty="0"/>
          </a:p>
        </p:txBody>
      </p:sp>
      <p:sp>
        <p:nvSpPr>
          <p:cNvPr id="6" name="Chip Microsoft MVP"/>
          <p:cNvSpPr/>
          <p:nvPr/>
        </p:nvSpPr>
        <p:spPr>
          <a:xfrm>
            <a:off x="4800600" y="2148840"/>
            <a:ext cx="1568196" cy="347472"/>
          </a:xfrm>
          <a:prstGeom prst="roundRect">
            <a:avLst>
              <a:gd name="adj" fmla="val 50000"/>
            </a:avLst>
          </a:prstGeom>
          <a:solidFill>
            <a:schemeClr val="accent2"/>
          </a:solidFill>
          <a:ln/>
        </p:spPr>
      </p:sp>
      <p:sp>
        <p:nvSpPr>
          <p:cNvPr id="7" name="Text 4"/>
          <p:cNvSpPr txBox="1"/>
          <p:nvPr/>
        </p:nvSpPr>
        <p:spPr>
          <a:xfrm>
            <a:off x="4800600" y="2148840"/>
            <a:ext cx="1568196"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MVP</a:t>
            </a:r>
            <a:endParaRPr lang="en-US" sz="1200" dirty="0"/>
          </a:p>
        </p:txBody>
      </p:sp>
      <p:sp>
        <p:nvSpPr>
          <p:cNvPr id="8" name="Chip Author"/>
          <p:cNvSpPr/>
          <p:nvPr/>
        </p:nvSpPr>
        <p:spPr>
          <a:xfrm>
            <a:off x="6505956" y="2148840"/>
            <a:ext cx="896112" cy="347472"/>
          </a:xfrm>
          <a:prstGeom prst="roundRect">
            <a:avLst>
              <a:gd name="adj" fmla="val 50000"/>
            </a:avLst>
          </a:prstGeom>
          <a:solidFill>
            <a:schemeClr val="accent2"/>
          </a:solidFill>
          <a:ln/>
        </p:spPr>
      </p:sp>
      <p:sp>
        <p:nvSpPr>
          <p:cNvPr id="9" name="Text 6"/>
          <p:cNvSpPr txBox="1"/>
          <p:nvPr/>
        </p:nvSpPr>
        <p:spPr>
          <a:xfrm>
            <a:off x="6505956" y="2148840"/>
            <a:ext cx="896112" cy="347472"/>
          </a:xfrm>
          <a:prstGeom prst="rect">
            <a:avLst/>
          </a:prstGeom>
          <a:noFill/>
          <a:ln/>
        </p:spPr>
        <p:txBody>
          <a:bodyPr wrap="square" lIns="0" tIns="0" rIns="0" bIns="0" rtlCol="0" anchor="ctr"/>
          <a:lstStyle/>
          <a:p>
            <a:pPr algn="ctr" indent="0" marL="0">
              <a:buNone/>
            </a:pPr>
            <a:r>
              <a:rPr lang="en-US" sz="1200" b="1" dirty="0">
                <a:solidFill>
                  <a:schemeClr val="bg1"/>
                </a:solidFill>
              </a:rPr>
              <a:t>Author</a:t>
            </a:r>
            <a:endParaRPr lang="en-US" sz="1200" dirty="0"/>
          </a:p>
        </p:txBody>
      </p:sp>
      <p:sp>
        <p:nvSpPr>
          <p:cNvPr id="10" name="Session card"/>
          <p:cNvSpPr/>
          <p:nvPr/>
        </p:nvSpPr>
        <p:spPr>
          <a:xfrm>
            <a:off x="4800600" y="2715768"/>
            <a:ext cx="6858000" cy="1691640"/>
          </a:xfrm>
          <a:prstGeom prst="roundRect">
            <a:avLst>
              <a:gd name="adj" fmla="val 6486"/>
            </a:avLst>
          </a:prstGeom>
          <a:solidFill>
            <a:schemeClr val="bg2"/>
          </a:solidFill>
          <a:ln/>
        </p:spPr>
      </p:sp>
      <p:pic>
        <p:nvPicPr>
          <p:cNvPr id="11"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2" name="Text 8"/>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3" name="Text 9"/>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More Than Prompt Safety and IAM : Design Policy-as-Code for Deterministic Multi-Agent AI Workflows</a:t>
            </a:r>
            <a:endParaRPr lang="en-US" sz="1800" dirty="0"/>
          </a:p>
        </p:txBody>
      </p:sp>
      <p:sp>
        <p:nvSpPr>
          <p:cNvPr id="14" name="Text 10"/>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Advanced  ·  35 minutes</a:t>
            </a:r>
            <a:endParaRPr lang="en-US" sz="1300" dirty="0"/>
          </a:p>
        </p:txBody>
      </p:sp>
      <p:sp>
        <p:nvSpPr>
          <p:cNvPr id="15" name="Text 11"/>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Specialises in Microsoft Sentinel, Defender XDR and the Azure security stack</a:t>
            </a:r>
            <a:endParaRPr lang="en-US" sz="1400" dirty="0"/>
          </a:p>
          <a:p>
            <a:pPr marL="342900" indent="-342900">
              <a:spcAft>
                <a:spcPts val="600"/>
              </a:spcAft>
              <a:buSzPct val="100000"/>
              <a:buChar char="•"/>
            </a:pPr>
            <a:r>
              <a:rPr lang="en-US" sz="1400" dirty="0">
                <a:solidFill>
                  <a:schemeClr val="tx1"/>
                </a:solidFill>
              </a:rPr>
              <a:t>Has led enterprise-scale Sentinel deployments and trained hundreds of analysts</a:t>
            </a:r>
            <a:endParaRPr lang="en-US" sz="1400" dirty="0"/>
          </a:p>
          <a:p>
            <a:pPr marL="342900" indent="-342900">
              <a:spcAft>
                <a:spcPts val="600"/>
              </a:spcAft>
              <a:buSzPct val="100000"/>
              <a:buChar char="•"/>
            </a:pPr>
            <a:r>
              <a:rPr lang="en-US" sz="1400" dirty="0">
                <a:solidFill>
                  <a:schemeClr val="tx1"/>
                </a:solidFill>
              </a:rPr>
              <a:t>Author of a book on KQL for Microsoft Sentinel; publishes the Signals &amp; Shadows newsletter</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Lalit Rawat photo" descr="/Users/prathapreddy/agentic-ai-summit-2026/tools/.cache/img/ph-lalit-rawat.png">    </p:cNvPr>
          <p:cNvPicPr>
            <a:picLocks noChangeAspect="1"/>
          </p:cNvPicPr>
          <p:nvPr/>
        </p:nvPicPr>
        <p:blipFill>
          <a:blip r:embed="rId1"/>
          <a:stretch>
            <a:fillRect/>
          </a:stretch>
        </p:blipFill>
        <p:spPr>
          <a:xfrm>
            <a:off x="640080" y="1234440"/>
            <a:ext cx="3566160" cy="3566160"/>
          </a:xfrm>
          <a:prstGeom prst="rect">
            <a:avLst/>
          </a:prstGeom>
        </p:spPr>
      </p:pic>
      <p:sp>
        <p:nvSpPr>
          <p:cNvPr id="3" name="Text 0"/>
          <p:cNvSpPr txBox="1"/>
          <p:nvPr/>
        </p:nvSpPr>
        <p:spPr>
          <a:xfrm>
            <a:off x="4800600" y="502920"/>
            <a:ext cx="68580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UP NEXT  ·  3:35 PM – 4:10 PM IST</a:t>
            </a:r>
            <a:endParaRPr lang="en-US" sz="1400" dirty="0"/>
          </a:p>
        </p:txBody>
      </p:sp>
      <p:sp>
        <p:nvSpPr>
          <p:cNvPr id="4" name="Text 1"/>
          <p:cNvSpPr txBox="1"/>
          <p:nvPr/>
        </p:nvSpPr>
        <p:spPr>
          <a:xfrm>
            <a:off x="4800600" y="896112"/>
            <a:ext cx="6858000" cy="731520"/>
          </a:xfrm>
          <a:prstGeom prst="rect">
            <a:avLst/>
          </a:prstGeom>
          <a:noFill/>
          <a:ln/>
        </p:spPr>
        <p:txBody>
          <a:bodyPr wrap="square" lIns="0" tIns="0" rIns="0" bIns="0" rtlCol="0" anchor="ctr">
            <a:normAutofit/>
          </a:bodyPr>
          <a:lstStyle/>
          <a:p>
            <a:pPr indent="0" marL="0">
              <a:buNone/>
            </a:pPr>
            <a:r>
              <a:rPr lang="en-US" sz="3800" b="1" dirty="0">
                <a:solidFill>
                  <a:schemeClr val="tx1"/>
                </a:solidFill>
                <a:latin typeface="Arial" pitchFamily="34" charset="0"/>
                <a:ea typeface="Arial" pitchFamily="34" charset="-122"/>
                <a:cs typeface="Arial" pitchFamily="34" charset="-120"/>
              </a:rPr>
              <a:t>Lalit Rawat</a:t>
            </a:r>
            <a:endParaRPr lang="en-US" sz="3800" dirty="0"/>
          </a:p>
        </p:txBody>
      </p:sp>
      <p:sp>
        <p:nvSpPr>
          <p:cNvPr id="5" name="Text 2"/>
          <p:cNvSpPr txBox="1"/>
          <p:nvPr/>
        </p:nvSpPr>
        <p:spPr>
          <a:xfrm>
            <a:off x="4800600" y="1664208"/>
            <a:ext cx="6858000" cy="365760"/>
          </a:xfrm>
          <a:prstGeom prst="rect">
            <a:avLst/>
          </a:prstGeom>
          <a:noFill/>
          <a:ln/>
        </p:spPr>
        <p:txBody>
          <a:bodyPr wrap="square" lIns="0" tIns="0" rIns="0" bIns="0" rtlCol="0" anchor="t"/>
          <a:lstStyle/>
          <a:p>
            <a:pPr indent="0" marL="0">
              <a:buNone/>
            </a:pPr>
            <a:r>
              <a:rPr lang="en-US" sz="1500" dirty="0">
                <a:solidFill>
                  <a:schemeClr val="accent5"/>
                </a:solidFill>
              </a:rPr>
              <a:t>Microsoft MVP · MCT · CISO, Kanerika</a:t>
            </a:r>
            <a:endParaRPr lang="en-US" sz="1500" dirty="0"/>
          </a:p>
        </p:txBody>
      </p:sp>
      <p:sp>
        <p:nvSpPr>
          <p:cNvPr id="6" name="Chip Microsoft MVP"/>
          <p:cNvSpPr/>
          <p:nvPr/>
        </p:nvSpPr>
        <p:spPr>
          <a:xfrm>
            <a:off x="4800600" y="2148840"/>
            <a:ext cx="1568196" cy="347472"/>
          </a:xfrm>
          <a:prstGeom prst="roundRect">
            <a:avLst>
              <a:gd name="adj" fmla="val 50000"/>
            </a:avLst>
          </a:prstGeom>
          <a:solidFill>
            <a:schemeClr val="accent2"/>
          </a:solidFill>
          <a:ln/>
        </p:spPr>
      </p:sp>
      <p:sp>
        <p:nvSpPr>
          <p:cNvPr id="7" name="Text 4"/>
          <p:cNvSpPr txBox="1"/>
          <p:nvPr/>
        </p:nvSpPr>
        <p:spPr>
          <a:xfrm>
            <a:off x="4800600" y="2148840"/>
            <a:ext cx="1568196" cy="347472"/>
          </a:xfrm>
          <a:prstGeom prst="rect">
            <a:avLst/>
          </a:prstGeom>
          <a:noFill/>
          <a:ln/>
        </p:spPr>
        <p:txBody>
          <a:bodyPr wrap="square" lIns="0" tIns="0" rIns="0" bIns="0" rtlCol="0" anchor="ctr"/>
          <a:lstStyle/>
          <a:p>
            <a:pPr algn="ctr" indent="0" marL="0">
              <a:buNone/>
            </a:pPr>
            <a:r>
              <a:rPr lang="en-US" sz="1200" b="1" dirty="0">
                <a:solidFill>
                  <a:schemeClr val="bg1"/>
                </a:solidFill>
              </a:rPr>
              <a:t>Microsoft MVP</a:t>
            </a:r>
            <a:endParaRPr lang="en-US" sz="1200" dirty="0"/>
          </a:p>
        </p:txBody>
      </p:sp>
      <p:sp>
        <p:nvSpPr>
          <p:cNvPr id="8" name="Chip MCT"/>
          <p:cNvSpPr/>
          <p:nvPr/>
        </p:nvSpPr>
        <p:spPr>
          <a:xfrm>
            <a:off x="6505956" y="2148840"/>
            <a:ext cx="608076" cy="347472"/>
          </a:xfrm>
          <a:prstGeom prst="roundRect">
            <a:avLst>
              <a:gd name="adj" fmla="val 50000"/>
            </a:avLst>
          </a:prstGeom>
          <a:solidFill>
            <a:schemeClr val="accent2"/>
          </a:solidFill>
          <a:ln/>
        </p:spPr>
      </p:sp>
      <p:sp>
        <p:nvSpPr>
          <p:cNvPr id="9" name="Text 6"/>
          <p:cNvSpPr txBox="1"/>
          <p:nvPr/>
        </p:nvSpPr>
        <p:spPr>
          <a:xfrm>
            <a:off x="6505956" y="2148840"/>
            <a:ext cx="608076" cy="347472"/>
          </a:xfrm>
          <a:prstGeom prst="rect">
            <a:avLst/>
          </a:prstGeom>
          <a:noFill/>
          <a:ln/>
        </p:spPr>
        <p:txBody>
          <a:bodyPr wrap="square" lIns="0" tIns="0" rIns="0" bIns="0" rtlCol="0" anchor="ctr"/>
          <a:lstStyle/>
          <a:p>
            <a:pPr algn="ctr" indent="0" marL="0">
              <a:buNone/>
            </a:pPr>
            <a:r>
              <a:rPr lang="en-US" sz="1200" b="1" dirty="0">
                <a:solidFill>
                  <a:schemeClr val="bg1"/>
                </a:solidFill>
              </a:rPr>
              <a:t>MCT</a:t>
            </a:r>
            <a:endParaRPr lang="en-US" sz="1200" dirty="0"/>
          </a:p>
        </p:txBody>
      </p:sp>
      <p:sp>
        <p:nvSpPr>
          <p:cNvPr id="10" name="Chip CISO"/>
          <p:cNvSpPr/>
          <p:nvPr/>
        </p:nvSpPr>
        <p:spPr>
          <a:xfrm>
            <a:off x="7251192" y="2148840"/>
            <a:ext cx="704088" cy="347472"/>
          </a:xfrm>
          <a:prstGeom prst="roundRect">
            <a:avLst>
              <a:gd name="adj" fmla="val 50000"/>
            </a:avLst>
          </a:prstGeom>
          <a:solidFill>
            <a:schemeClr val="accent2"/>
          </a:solidFill>
          <a:ln/>
        </p:spPr>
      </p:sp>
      <p:sp>
        <p:nvSpPr>
          <p:cNvPr id="11" name="Text 8"/>
          <p:cNvSpPr txBox="1"/>
          <p:nvPr/>
        </p:nvSpPr>
        <p:spPr>
          <a:xfrm>
            <a:off x="7251192" y="2148840"/>
            <a:ext cx="704088" cy="347472"/>
          </a:xfrm>
          <a:prstGeom prst="rect">
            <a:avLst/>
          </a:prstGeom>
          <a:noFill/>
          <a:ln/>
        </p:spPr>
        <p:txBody>
          <a:bodyPr wrap="square" lIns="0" tIns="0" rIns="0" bIns="0" rtlCol="0" anchor="ctr"/>
          <a:lstStyle/>
          <a:p>
            <a:pPr algn="ctr" indent="0" marL="0">
              <a:buNone/>
            </a:pPr>
            <a:r>
              <a:rPr lang="en-US" sz="1200" b="1" dirty="0">
                <a:solidFill>
                  <a:schemeClr val="bg1"/>
                </a:solidFill>
              </a:rPr>
              <a:t>CISO</a:t>
            </a:r>
            <a:endParaRPr lang="en-US" sz="1200" dirty="0"/>
          </a:p>
        </p:txBody>
      </p:sp>
      <p:sp>
        <p:nvSpPr>
          <p:cNvPr id="12" name="Session card"/>
          <p:cNvSpPr/>
          <p:nvPr/>
        </p:nvSpPr>
        <p:spPr>
          <a:xfrm>
            <a:off x="4800600" y="2715768"/>
            <a:ext cx="6858000" cy="1691640"/>
          </a:xfrm>
          <a:prstGeom prst="roundRect">
            <a:avLst>
              <a:gd name="adj" fmla="val 6486"/>
            </a:avLst>
          </a:prstGeom>
          <a:solidFill>
            <a:schemeClr val="bg2"/>
          </a:solidFill>
          <a:ln/>
        </p:spPr>
      </p:sp>
      <p:pic>
        <p:nvPicPr>
          <p:cNvPr id="13" name="Session icon" descr="/Users/prathapreddy/agentic-ai-summit-2026/tools/.cache/img/ic-mic-v.png">    </p:cNvPr>
          <p:cNvPicPr>
            <a:picLocks noChangeAspect="1"/>
          </p:cNvPicPr>
          <p:nvPr/>
        </p:nvPicPr>
        <p:blipFill>
          <a:blip r:embed="rId2"/>
          <a:stretch>
            <a:fillRect/>
          </a:stretch>
        </p:blipFill>
        <p:spPr>
          <a:xfrm>
            <a:off x="5029200" y="2944368"/>
            <a:ext cx="292608" cy="292608"/>
          </a:xfrm>
          <a:prstGeom prst="rect">
            <a:avLst/>
          </a:prstGeom>
        </p:spPr>
      </p:pic>
      <p:sp>
        <p:nvSpPr>
          <p:cNvPr id="14" name="Text 10"/>
          <p:cNvSpPr txBox="1"/>
          <p:nvPr/>
        </p:nvSpPr>
        <p:spPr>
          <a:xfrm>
            <a:off x="5440680" y="2916936"/>
            <a:ext cx="2743200" cy="347472"/>
          </a:xfrm>
          <a:prstGeom prst="rect">
            <a:avLst/>
          </a:prstGeom>
          <a:noFill/>
          <a:ln/>
        </p:spPr>
        <p:txBody>
          <a:bodyPr wrap="square" lIns="0" tIns="0" rIns="0" bIns="0" rtlCol="0" anchor="ctr"/>
          <a:lstStyle/>
          <a:p>
            <a:pPr indent="0" marL="0">
              <a:buNone/>
            </a:pPr>
            <a:r>
              <a:rPr lang="en-US" sz="1200" b="1" spc="300" kern="0" dirty="0">
                <a:solidFill>
                  <a:schemeClr val="accent2"/>
                </a:solidFill>
              </a:rPr>
              <a:t>SESSION</a:t>
            </a:r>
            <a:endParaRPr lang="en-US" sz="1200" dirty="0"/>
          </a:p>
        </p:txBody>
      </p:sp>
      <p:sp>
        <p:nvSpPr>
          <p:cNvPr id="15" name="Text 11"/>
          <p:cNvSpPr txBox="1"/>
          <p:nvPr/>
        </p:nvSpPr>
        <p:spPr>
          <a:xfrm>
            <a:off x="5029200" y="3282696"/>
            <a:ext cx="6400800" cy="685800"/>
          </a:xfrm>
          <a:prstGeom prst="rect">
            <a:avLst/>
          </a:prstGeom>
          <a:noFill/>
          <a:ln/>
        </p:spPr>
        <p:txBody>
          <a:bodyPr wrap="square" lIns="0" tIns="0" rIns="0" bIns="0" rtlCol="0" anchor="t">
            <a:normAutofit/>
          </a:bodyPr>
          <a:lstStyle/>
          <a:p>
            <a:pPr indent="0" marL="0">
              <a:buNone/>
            </a:pPr>
            <a:r>
              <a:rPr lang="en-US" sz="1800" b="1" dirty="0">
                <a:solidFill>
                  <a:schemeClr val="tx2"/>
                </a:solidFill>
              </a:rPr>
              <a:t>From AI PoC Chaos to Production: Building a Secure Enterprise AI Landing Zone on Azure</a:t>
            </a:r>
            <a:endParaRPr lang="en-US" sz="1800" dirty="0"/>
          </a:p>
        </p:txBody>
      </p:sp>
      <p:sp>
        <p:nvSpPr>
          <p:cNvPr id="16" name="Text 12"/>
          <p:cNvSpPr txBox="1"/>
          <p:nvPr/>
        </p:nvSpPr>
        <p:spPr>
          <a:xfrm>
            <a:off x="5029200" y="4014216"/>
            <a:ext cx="6400800" cy="274320"/>
          </a:xfrm>
          <a:prstGeom prst="rect">
            <a:avLst/>
          </a:prstGeom>
          <a:noFill/>
          <a:ln/>
        </p:spPr>
        <p:txBody>
          <a:bodyPr wrap="square" lIns="0" tIns="0" rIns="0" bIns="0" rtlCol="0" anchor="ctr"/>
          <a:lstStyle/>
          <a:p>
            <a:pPr indent="0" marL="0">
              <a:buNone/>
            </a:pPr>
            <a:r>
              <a:rPr lang="en-US" sz="1300" dirty="0">
                <a:solidFill>
                  <a:schemeClr val="accent5"/>
                </a:solidFill>
              </a:rPr>
              <a:t>Talk  ·  Intermediate  ·  35 minutes</a:t>
            </a:r>
            <a:endParaRPr lang="en-US" sz="1300" dirty="0"/>
          </a:p>
        </p:txBody>
      </p:sp>
      <p:sp>
        <p:nvSpPr>
          <p:cNvPr id="17" name="Text 13"/>
          <p:cNvSpPr txBox="1"/>
          <p:nvPr/>
        </p:nvSpPr>
        <p:spPr>
          <a:xfrm>
            <a:off x="4800600" y="4636008"/>
            <a:ext cx="6858000" cy="149047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chemeClr val="tx1"/>
                </a:solidFill>
              </a:rPr>
              <a:t>Chief Information Security Officer at Kanerika and Distinguished Lead Engineer; 19+ years in Microsoft technologies</a:t>
            </a:r>
            <a:endParaRPr lang="en-US" sz="1400" dirty="0"/>
          </a:p>
          <a:p>
            <a:pPr marL="342900" indent="-342900">
              <a:spcAft>
                <a:spcPts val="600"/>
              </a:spcAft>
              <a:buSzPct val="100000"/>
              <a:buChar char="•"/>
            </a:pPr>
            <a:r>
              <a:rPr lang="en-US" sz="1400" dirty="0">
                <a:solidFill>
                  <a:schemeClr val="tx1"/>
                </a:solidFill>
              </a:rPr>
              <a:t>Specialises in Zero Trust, DevSecOps, cloud security, AI governance and enterprise AI architecture</a:t>
            </a:r>
            <a:endParaRPr lang="en-US" sz="1400" dirty="0"/>
          </a:p>
          <a:p>
            <a:pPr marL="342900" indent="-342900">
              <a:spcAft>
                <a:spcPts val="600"/>
              </a:spcAft>
              <a:buSzPct val="100000"/>
              <a:buChar char="•"/>
            </a:pPr>
            <a:r>
              <a:rPr lang="en-US" sz="1400" dirty="0">
                <a:solidFill>
                  <a:schemeClr val="tx1"/>
                </a:solidFill>
              </a:rPr>
              <a:t>Helps organisations bridge innovation and security to adopt AI responsibly</a:t>
            </a:r>
            <a:endParaRPr lang="en-US" sz="1400" dirty="0"/>
          </a:p>
        </p:txBody>
      </p:sp>
      <p:sp>
        <p:nvSpPr>
          <p:cNvPr id="25" name="Slide Number Placeholder 0"/>
          <p:cNvSpPr>
            <a:spLocks noGrp="1"/>
          </p:cNvSpPr>
          <p:nvPr>
            <p:ph type="sldNum" sz="quarter" idx="4294967295"/>
          </p:nvPr>
        </p:nvSpPr>
        <p:spPr>
          <a:xfrm>
            <a:off x="105613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309360" cy="17373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640080" y="3749040"/>
            <a:ext cx="6309360" cy="1371600"/>
          </a:xfrm>
          <a:prstGeom prst="rect">
            <a:avLst/>
          </a:prstGeom>
          <a:noFill/>
          <a:ln/>
        </p:spPr>
        <p:txBody>
          <a:bodyPr wrap="square" lIns="0" tIns="0" rIns="0" bIns="0" rtlCol="0" anchor="t"/>
          <a:lstStyle/>
          <a:p>
            <a:pPr algn="l" indent="0" marL="0">
              <a:buNone/>
            </a:pPr>
            <a:r>
              <a:rPr lang="en-US" sz="1800" dirty="0">
                <a:solidFill>
                  <a:schemeClr val="bg2"/>
                </a:solidFill>
              </a:rPr>
              <a:t>Claim your passport stamp at innovationtechcommunity.com</a:t>
            </a:r>
            <a:endParaRPr lang="en-US" sz="1800" dirty="0"/>
          </a:p>
          <a:p>
            <a:pPr algn="l" indent="0" marL="0">
              <a:buNone/>
            </a:pPr>
            <a:r>
              <a:rPr lang="en-US" sz="1800" dirty="0">
                <a:solidFill>
                  <a:schemeClr val="bg2"/>
                </a:solidFill>
              </a:rPr>
              <a:t>Recordings: youtube.com/@innovationtechcommunity</a:t>
            </a:r>
            <a:endParaRPr lang="en-US" sz="1800" dirty="0"/>
          </a:p>
          <a:p>
            <a:pPr algn="l" indent="0" marL="0">
              <a:buNone/>
            </a:pPr>
            <a:r>
              <a:rPr lang="en-US" sz="1800" dirty="0">
                <a:solidFill>
                  <a:schemeClr val="bg2"/>
                </a:solidFill>
              </a:rPr>
              <a:t>Next up: Agent Universe 2026 · 14 November · innovationtechcommunity.com/agent-universe</a:t>
            </a:r>
            <a:endParaRPr lang="en-US" sz="1800" dirty="0"/>
          </a:p>
        </p:txBody>
      </p:sp>
      <p:pic>
        <p:nvPicPr>
          <p:cNvPr id="4" name="ITC Cat thumbs up" descr="/Users/prathapreddy/agentic-ai-summit-2026/tools/.cache/assets/cat-smile.png">    </p:cNvPr>
          <p:cNvPicPr>
            <a:picLocks noChangeAspect="1"/>
          </p:cNvPicPr>
          <p:nvPr/>
        </p:nvPicPr>
        <p:blipFill>
          <a:blip r:embed="rId1"/>
          <a:stretch>
            <a:fillRect/>
          </a:stretch>
        </p:blipFill>
        <p:spPr>
          <a:xfrm>
            <a:off x="7863840" y="1371600"/>
            <a:ext cx="3566160" cy="3566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Agentic AI Summit 2026">
      <a:dk1>
        <a:srgbClr val="14154A"/>
      </a:dk1>
      <a:lt1>
        <a:srgbClr val="FFFFFF"/>
      </a:lt1>
      <a:dk2>
        <a:srgbClr val="1E2A78"/>
      </a:dk2>
      <a:lt2>
        <a:srgbClr val="F4F2FF"/>
      </a:lt2>
      <a:accent1>
        <a:srgbClr val="2563EB"/>
      </a:accent1>
      <a:accent2>
        <a:srgbClr val="7C3AED"/>
      </a:accent2>
      <a:accent3>
        <a:srgbClr val="C026D3"/>
      </a:accent3>
      <a:accent4>
        <a:srgbClr val="0EA5E9"/>
      </a:accent4>
      <a:accent5>
        <a:srgbClr val="5B6385"/>
      </a:accent5>
      <a:accent6>
        <a:srgbClr val="F59E0B"/>
      </a:accent6>
      <a:hlink>
        <a:srgbClr val="2563EB"/>
      </a:hlink>
      <a:folHlink>
        <a:srgbClr val="7C3AE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Innovation Tech Community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Summit 2026 · Host deck</dc:title>
  <dc:subject>PptxGenJS Presentation</dc:subject>
  <dc:creator>Innovation Tech Community</dc:creator>
  <cp:lastModifiedBy>Innovation Tech Community</cp:lastModifiedBy>
  <cp:revision>1</cp:revision>
  <dcterms:created xsi:type="dcterms:W3CDTF">2026-10-20T18:55:27Z</dcterms:created>
  <dcterms:modified xsi:type="dcterms:W3CDTF">2026-10-20T18:55:27Z</dcterms:modified>
</cp:coreProperties>
</file>